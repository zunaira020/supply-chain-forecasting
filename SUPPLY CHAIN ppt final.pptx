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3" r:id="rId4"/>
    <p:sldId id="274" r:id="rId5"/>
    <p:sldId id="276" r:id="rId6"/>
    <p:sldId id="277" r:id="rId7"/>
    <p:sldId id="278" r:id="rId8"/>
    <p:sldId id="279" r:id="rId9"/>
    <p:sldId id="280" r:id="rId10"/>
    <p:sldId id="281" r:id="rId11"/>
    <p:sldId id="275" r:id="rId12"/>
    <p:sldId id="282" r:id="rId13"/>
    <p:sldId id="283" r:id="rId14"/>
    <p:sldId id="284" r:id="rId15"/>
    <p:sldId id="286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87" r:id="rId26"/>
    <p:sldId id="269" r:id="rId27"/>
    <p:sldId id="268" r:id="rId28"/>
    <p:sldId id="270" r:id="rId29"/>
    <p:sldId id="271" r:id="rId30"/>
    <p:sldId id="272" r:id="rId31"/>
  </p:sldIdLst>
  <p:sldSz cx="18288000" cy="10287000"/>
  <p:notesSz cx="6858000" cy="9144000"/>
  <p:embeddedFontLst>
    <p:embeddedFont>
      <p:font typeface="Canva Sans Bold" panose="020B0604020202020204" charset="0"/>
      <p:regular r:id="rId32"/>
    </p:embeddedFont>
    <p:embeddedFont>
      <p:font typeface="DM Serif Display" pitchFamily="2" charset="0"/>
      <p:regular r:id="rId33"/>
      <p:italic r:id="rId34"/>
    </p:embeddedFont>
    <p:embeddedFont>
      <p:font typeface="Poppins" panose="00000500000000000000" pitchFamily="2" charset="0"/>
      <p:regular r:id="rId35"/>
      <p:bold r:id="rId36"/>
    </p:embeddedFont>
    <p:embeddedFont>
      <p:font typeface="Poppins Bold" panose="00000800000000000000" charset="0"/>
      <p:regular r:id="rId37"/>
      <p:bold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09" autoAdjust="0"/>
    <p:restoredTop sz="94622" autoAdjust="0"/>
  </p:normalViewPr>
  <p:slideViewPr>
    <p:cSldViewPr>
      <p:cViewPr>
        <p:scale>
          <a:sx n="66" d="100"/>
          <a:sy n="66" d="100"/>
        </p:scale>
        <p:origin x="-752" y="-5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611945">
            <a:off x="14458950" y="4723039"/>
            <a:ext cx="7658100" cy="5426529"/>
            <a:chOff x="0" y="0"/>
            <a:chExt cx="2016948" cy="14292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6948" cy="1429209"/>
            </a:xfrm>
            <a:custGeom>
              <a:avLst/>
              <a:gdLst/>
              <a:ahLst/>
              <a:cxnLst/>
              <a:rect l="l" t="t" r="r" b="b"/>
              <a:pathLst>
                <a:path w="2016948" h="1429209">
                  <a:moveTo>
                    <a:pt x="51558" y="0"/>
                  </a:moveTo>
                  <a:lnTo>
                    <a:pt x="1965390" y="0"/>
                  </a:lnTo>
                  <a:cubicBezTo>
                    <a:pt x="1979064" y="0"/>
                    <a:pt x="1992178" y="5432"/>
                    <a:pt x="2001847" y="15101"/>
                  </a:cubicBezTo>
                  <a:cubicBezTo>
                    <a:pt x="2011516" y="24770"/>
                    <a:pt x="2016948" y="37884"/>
                    <a:pt x="2016948" y="51558"/>
                  </a:cubicBezTo>
                  <a:lnTo>
                    <a:pt x="2016948" y="1377651"/>
                  </a:lnTo>
                  <a:cubicBezTo>
                    <a:pt x="2016948" y="1391325"/>
                    <a:pt x="2011516" y="1404439"/>
                    <a:pt x="2001847" y="1414108"/>
                  </a:cubicBezTo>
                  <a:cubicBezTo>
                    <a:pt x="1992178" y="1423777"/>
                    <a:pt x="1979064" y="1429209"/>
                    <a:pt x="1965390" y="1429209"/>
                  </a:cubicBezTo>
                  <a:lnTo>
                    <a:pt x="51558" y="1429209"/>
                  </a:lnTo>
                  <a:cubicBezTo>
                    <a:pt x="37884" y="1429209"/>
                    <a:pt x="24770" y="1423777"/>
                    <a:pt x="15101" y="1414108"/>
                  </a:cubicBezTo>
                  <a:cubicBezTo>
                    <a:pt x="5432" y="1404439"/>
                    <a:pt x="0" y="1391325"/>
                    <a:pt x="0" y="1377651"/>
                  </a:cubicBezTo>
                  <a:lnTo>
                    <a:pt x="0" y="51558"/>
                  </a:lnTo>
                  <a:cubicBezTo>
                    <a:pt x="0" y="37884"/>
                    <a:pt x="5432" y="24770"/>
                    <a:pt x="15101" y="15101"/>
                  </a:cubicBezTo>
                  <a:cubicBezTo>
                    <a:pt x="24770" y="5432"/>
                    <a:pt x="37884" y="0"/>
                    <a:pt x="51558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33375"/>
              <a:ext cx="2016948" cy="17625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611945">
            <a:off x="-614581" y="-1866767"/>
            <a:ext cx="3031341" cy="2798456"/>
            <a:chOff x="0" y="0"/>
            <a:chExt cx="798378" cy="7370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98378" cy="737042"/>
            </a:xfrm>
            <a:custGeom>
              <a:avLst/>
              <a:gdLst/>
              <a:ahLst/>
              <a:cxnLst/>
              <a:rect l="l" t="t" r="r" b="b"/>
              <a:pathLst>
                <a:path w="798378" h="737042">
                  <a:moveTo>
                    <a:pt x="130252" y="0"/>
                  </a:moveTo>
                  <a:lnTo>
                    <a:pt x="668126" y="0"/>
                  </a:lnTo>
                  <a:cubicBezTo>
                    <a:pt x="702671" y="0"/>
                    <a:pt x="735801" y="13723"/>
                    <a:pt x="760228" y="38150"/>
                  </a:cubicBezTo>
                  <a:cubicBezTo>
                    <a:pt x="784655" y="62577"/>
                    <a:pt x="798378" y="95707"/>
                    <a:pt x="798378" y="130252"/>
                  </a:cubicBezTo>
                  <a:lnTo>
                    <a:pt x="798378" y="606790"/>
                  </a:lnTo>
                  <a:cubicBezTo>
                    <a:pt x="798378" y="678726"/>
                    <a:pt x="740062" y="737042"/>
                    <a:pt x="668126" y="737042"/>
                  </a:cubicBezTo>
                  <a:lnTo>
                    <a:pt x="130252" y="737042"/>
                  </a:lnTo>
                  <a:cubicBezTo>
                    <a:pt x="58316" y="737042"/>
                    <a:pt x="0" y="678726"/>
                    <a:pt x="0" y="606790"/>
                  </a:cubicBezTo>
                  <a:lnTo>
                    <a:pt x="0" y="130252"/>
                  </a:lnTo>
                  <a:cubicBezTo>
                    <a:pt x="0" y="58316"/>
                    <a:pt x="58316" y="0"/>
                    <a:pt x="130252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33375"/>
              <a:ext cx="798378" cy="1070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611945">
            <a:off x="12055325" y="9566947"/>
            <a:ext cx="3031341" cy="2798456"/>
            <a:chOff x="0" y="0"/>
            <a:chExt cx="798378" cy="7370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8378" cy="737042"/>
            </a:xfrm>
            <a:custGeom>
              <a:avLst/>
              <a:gdLst/>
              <a:ahLst/>
              <a:cxnLst/>
              <a:rect l="l" t="t" r="r" b="b"/>
              <a:pathLst>
                <a:path w="798378" h="737042">
                  <a:moveTo>
                    <a:pt x="130252" y="0"/>
                  </a:moveTo>
                  <a:lnTo>
                    <a:pt x="668126" y="0"/>
                  </a:lnTo>
                  <a:cubicBezTo>
                    <a:pt x="702671" y="0"/>
                    <a:pt x="735801" y="13723"/>
                    <a:pt x="760228" y="38150"/>
                  </a:cubicBezTo>
                  <a:cubicBezTo>
                    <a:pt x="784655" y="62577"/>
                    <a:pt x="798378" y="95707"/>
                    <a:pt x="798378" y="130252"/>
                  </a:cubicBezTo>
                  <a:lnTo>
                    <a:pt x="798378" y="606790"/>
                  </a:lnTo>
                  <a:cubicBezTo>
                    <a:pt x="798378" y="678726"/>
                    <a:pt x="740062" y="737042"/>
                    <a:pt x="668126" y="737042"/>
                  </a:cubicBezTo>
                  <a:lnTo>
                    <a:pt x="130252" y="737042"/>
                  </a:lnTo>
                  <a:cubicBezTo>
                    <a:pt x="58316" y="737042"/>
                    <a:pt x="0" y="678726"/>
                    <a:pt x="0" y="606790"/>
                  </a:cubicBezTo>
                  <a:lnTo>
                    <a:pt x="0" y="130252"/>
                  </a:lnTo>
                  <a:cubicBezTo>
                    <a:pt x="0" y="58316"/>
                    <a:pt x="58316" y="0"/>
                    <a:pt x="130252" y="0"/>
                  </a:cubicBezTo>
                  <a:close/>
                </a:path>
              </a:pathLst>
            </a:custGeom>
            <a:solidFill>
              <a:srgbClr val="C27F7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33375"/>
              <a:ext cx="798378" cy="1070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3011342" y="6140237"/>
            <a:ext cx="8918179" cy="19050"/>
          </a:xfrm>
          <a:prstGeom prst="line">
            <a:avLst/>
          </a:prstGeom>
          <a:ln w="4762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-2611945">
            <a:off x="12744473" y="42362"/>
            <a:ext cx="8101900" cy="3702724"/>
            <a:chOff x="0" y="0"/>
            <a:chExt cx="2133834" cy="9752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33834" cy="975203"/>
            </a:xfrm>
            <a:custGeom>
              <a:avLst/>
              <a:gdLst/>
              <a:ahLst/>
              <a:cxnLst/>
              <a:rect l="l" t="t" r="r" b="b"/>
              <a:pathLst>
                <a:path w="2133834" h="975203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C27F7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789597">
            <a:off x="3022879" y="1307360"/>
            <a:ext cx="606050" cy="530294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-3175"/>
              <a:ext cx="558800" cy="66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2789597">
            <a:off x="3271634" y="1536595"/>
            <a:ext cx="431165" cy="377270"/>
            <a:chOff x="0" y="0"/>
            <a:chExt cx="812800" cy="711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27F7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27000" y="-3175"/>
              <a:ext cx="558800" cy="66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2611945">
            <a:off x="10808920" y="-3972270"/>
            <a:ext cx="8101900" cy="3702724"/>
            <a:chOff x="0" y="0"/>
            <a:chExt cx="2133834" cy="97520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33834" cy="975203"/>
            </a:xfrm>
            <a:custGeom>
              <a:avLst/>
              <a:gdLst/>
              <a:ahLst/>
              <a:cxnLst/>
              <a:rect l="l" t="t" r="r" b="b"/>
              <a:pathLst>
                <a:path w="2133834" h="975203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-2611945">
            <a:off x="-6128725" y="8307085"/>
            <a:ext cx="8101900" cy="3702724"/>
            <a:chOff x="0" y="0"/>
            <a:chExt cx="2133834" cy="97520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33834" cy="975203"/>
            </a:xfrm>
            <a:custGeom>
              <a:avLst/>
              <a:gdLst/>
              <a:ahLst/>
              <a:cxnLst/>
              <a:rect l="l" t="t" r="r" b="b"/>
              <a:pathLst>
                <a:path w="2133834" h="975203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8597788" y="7002249"/>
            <a:ext cx="2910630" cy="2910630"/>
          </a:xfrm>
          <a:custGeom>
            <a:avLst/>
            <a:gdLst/>
            <a:ahLst/>
            <a:cxnLst/>
            <a:rect l="l" t="t" r="r" b="b"/>
            <a:pathLst>
              <a:path w="2910630" h="2910630">
                <a:moveTo>
                  <a:pt x="0" y="0"/>
                </a:moveTo>
                <a:lnTo>
                  <a:pt x="2910630" y="0"/>
                </a:lnTo>
                <a:lnTo>
                  <a:pt x="2910630" y="2910630"/>
                </a:lnTo>
                <a:lnTo>
                  <a:pt x="0" y="2910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361770" y="2717613"/>
            <a:ext cx="12669906" cy="3135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7"/>
              </a:lnSpc>
            </a:pPr>
            <a:r>
              <a:rPr lang="en-US" sz="594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SUPPLY CHAIN CHALLENGES &amp; DATA-DRIVEN FORECASTING SOLUTIONS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96411" y="1360532"/>
            <a:ext cx="1592821" cy="7565937"/>
            <a:chOff x="0" y="0"/>
            <a:chExt cx="419508" cy="19926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508" cy="1992675"/>
            </a:xfrm>
            <a:custGeom>
              <a:avLst/>
              <a:gdLst/>
              <a:ahLst/>
              <a:cxnLst/>
              <a:rect l="l" t="t" r="r" b="b"/>
              <a:pathLst>
                <a:path w="419508" h="1992675">
                  <a:moveTo>
                    <a:pt x="209754" y="0"/>
                  </a:moveTo>
                  <a:lnTo>
                    <a:pt x="209754" y="0"/>
                  </a:lnTo>
                  <a:cubicBezTo>
                    <a:pt x="325598" y="0"/>
                    <a:pt x="419508" y="93910"/>
                    <a:pt x="419508" y="209754"/>
                  </a:cubicBezTo>
                  <a:lnTo>
                    <a:pt x="419508" y="1782920"/>
                  </a:lnTo>
                  <a:cubicBezTo>
                    <a:pt x="419508" y="1898765"/>
                    <a:pt x="325598" y="1992675"/>
                    <a:pt x="209754" y="1992675"/>
                  </a:cubicBezTo>
                  <a:lnTo>
                    <a:pt x="209754" y="1992675"/>
                  </a:lnTo>
                  <a:cubicBezTo>
                    <a:pt x="93910" y="1992675"/>
                    <a:pt x="0" y="1898765"/>
                    <a:pt x="0" y="1782920"/>
                  </a:cubicBezTo>
                  <a:lnTo>
                    <a:pt x="0" y="209754"/>
                  </a:lnTo>
                  <a:cubicBezTo>
                    <a:pt x="0" y="93910"/>
                    <a:pt x="93910" y="0"/>
                    <a:pt x="209754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33375"/>
              <a:ext cx="419508" cy="2326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91589" y="1360532"/>
            <a:ext cx="1592821" cy="7565937"/>
            <a:chOff x="0" y="0"/>
            <a:chExt cx="419508" cy="19926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9508" cy="1992675"/>
            </a:xfrm>
            <a:custGeom>
              <a:avLst/>
              <a:gdLst/>
              <a:ahLst/>
              <a:cxnLst/>
              <a:rect l="l" t="t" r="r" b="b"/>
              <a:pathLst>
                <a:path w="419508" h="1992675">
                  <a:moveTo>
                    <a:pt x="209754" y="0"/>
                  </a:moveTo>
                  <a:lnTo>
                    <a:pt x="209754" y="0"/>
                  </a:lnTo>
                  <a:cubicBezTo>
                    <a:pt x="325598" y="0"/>
                    <a:pt x="419508" y="93910"/>
                    <a:pt x="419508" y="209754"/>
                  </a:cubicBezTo>
                  <a:lnTo>
                    <a:pt x="419508" y="1782920"/>
                  </a:lnTo>
                  <a:cubicBezTo>
                    <a:pt x="419508" y="1898765"/>
                    <a:pt x="325598" y="1992675"/>
                    <a:pt x="209754" y="1992675"/>
                  </a:cubicBezTo>
                  <a:lnTo>
                    <a:pt x="209754" y="1992675"/>
                  </a:lnTo>
                  <a:cubicBezTo>
                    <a:pt x="93910" y="1992675"/>
                    <a:pt x="0" y="1898765"/>
                    <a:pt x="0" y="1782920"/>
                  </a:cubicBezTo>
                  <a:lnTo>
                    <a:pt x="0" y="209754"/>
                  </a:lnTo>
                  <a:cubicBezTo>
                    <a:pt x="0" y="93910"/>
                    <a:pt x="93910" y="0"/>
                    <a:pt x="209754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33375"/>
              <a:ext cx="419508" cy="2326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4407776" y="1865533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2279733" y="2411325"/>
            <a:ext cx="1665375" cy="1665375"/>
          </a:xfrm>
          <a:custGeom>
            <a:avLst/>
            <a:gdLst/>
            <a:ahLst/>
            <a:cxnLst/>
            <a:rect l="l" t="t" r="r" b="b"/>
            <a:pathLst>
              <a:path w="1665375" h="1665375">
                <a:moveTo>
                  <a:pt x="0" y="0"/>
                </a:moveTo>
                <a:lnTo>
                  <a:pt x="1665375" y="0"/>
                </a:lnTo>
                <a:lnTo>
                  <a:pt x="1665375" y="1665375"/>
                </a:lnTo>
                <a:lnTo>
                  <a:pt x="0" y="1665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28700" y="2876549"/>
            <a:ext cx="5241957" cy="2872125"/>
            <a:chOff x="0" y="-278763"/>
            <a:chExt cx="1380598" cy="7564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80598" cy="318293"/>
            </a:xfrm>
            <a:custGeom>
              <a:avLst/>
              <a:gdLst/>
              <a:ahLst/>
              <a:cxnLst/>
              <a:rect l="l" t="t" r="r" b="b"/>
              <a:pathLst>
                <a:path w="1380598" h="318293">
                  <a:moveTo>
                    <a:pt x="28061" y="0"/>
                  </a:moveTo>
                  <a:lnTo>
                    <a:pt x="1352536" y="0"/>
                  </a:lnTo>
                  <a:cubicBezTo>
                    <a:pt x="1359979" y="0"/>
                    <a:pt x="1367116" y="2956"/>
                    <a:pt x="1372379" y="8219"/>
                  </a:cubicBezTo>
                  <a:cubicBezTo>
                    <a:pt x="1377641" y="13482"/>
                    <a:pt x="1380598" y="20619"/>
                    <a:pt x="1380598" y="28061"/>
                  </a:cubicBezTo>
                  <a:lnTo>
                    <a:pt x="1380598" y="290232"/>
                  </a:lnTo>
                  <a:cubicBezTo>
                    <a:pt x="1380598" y="297674"/>
                    <a:pt x="1377641" y="304812"/>
                    <a:pt x="1372379" y="310074"/>
                  </a:cubicBezTo>
                  <a:cubicBezTo>
                    <a:pt x="1367116" y="315337"/>
                    <a:pt x="1359979" y="318293"/>
                    <a:pt x="1352536" y="318293"/>
                  </a:cubicBezTo>
                  <a:lnTo>
                    <a:pt x="28061" y="318293"/>
                  </a:lnTo>
                  <a:cubicBezTo>
                    <a:pt x="20619" y="318293"/>
                    <a:pt x="13482" y="315337"/>
                    <a:pt x="8219" y="310074"/>
                  </a:cubicBezTo>
                  <a:cubicBezTo>
                    <a:pt x="2956" y="304812"/>
                    <a:pt x="0" y="297674"/>
                    <a:pt x="0" y="290232"/>
                  </a:cubicBezTo>
                  <a:lnTo>
                    <a:pt x="0" y="28061"/>
                  </a:lnTo>
                  <a:cubicBezTo>
                    <a:pt x="0" y="20619"/>
                    <a:pt x="2956" y="13482"/>
                    <a:pt x="8219" y="8219"/>
                  </a:cubicBezTo>
                  <a:cubicBezTo>
                    <a:pt x="13482" y="2956"/>
                    <a:pt x="20619" y="0"/>
                    <a:pt x="28061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78763"/>
              <a:ext cx="1380598" cy="756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r>
                <a:rPr lang="en-US" sz="32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Raw Material Gap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8252359" y="2584345"/>
            <a:ext cx="1229015" cy="1229015"/>
          </a:xfrm>
          <a:custGeom>
            <a:avLst/>
            <a:gdLst/>
            <a:ahLst/>
            <a:cxnLst/>
            <a:rect l="l" t="t" r="r" b="b"/>
            <a:pathLst>
              <a:path w="1229015" h="1229015">
                <a:moveTo>
                  <a:pt x="0" y="0"/>
                </a:moveTo>
                <a:lnTo>
                  <a:pt x="1229014" y="0"/>
                </a:lnTo>
                <a:lnTo>
                  <a:pt x="1229014" y="1229015"/>
                </a:lnTo>
                <a:lnTo>
                  <a:pt x="0" y="1229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6512075" y="2884168"/>
            <a:ext cx="5241957" cy="2872125"/>
            <a:chOff x="4014" y="-313925"/>
            <a:chExt cx="1380598" cy="756443"/>
          </a:xfrm>
        </p:grpSpPr>
        <p:sp>
          <p:nvSpPr>
            <p:cNvPr id="15" name="Freeform 15"/>
            <p:cNvSpPr/>
            <p:nvPr/>
          </p:nvSpPr>
          <p:spPr>
            <a:xfrm>
              <a:off x="4014" y="-12432"/>
              <a:ext cx="1380598" cy="318293"/>
            </a:xfrm>
            <a:custGeom>
              <a:avLst/>
              <a:gdLst/>
              <a:ahLst/>
              <a:cxnLst/>
              <a:rect l="l" t="t" r="r" b="b"/>
              <a:pathLst>
                <a:path w="1380598" h="318293">
                  <a:moveTo>
                    <a:pt x="28061" y="0"/>
                  </a:moveTo>
                  <a:lnTo>
                    <a:pt x="1352536" y="0"/>
                  </a:lnTo>
                  <a:cubicBezTo>
                    <a:pt x="1359979" y="0"/>
                    <a:pt x="1367116" y="2956"/>
                    <a:pt x="1372379" y="8219"/>
                  </a:cubicBezTo>
                  <a:cubicBezTo>
                    <a:pt x="1377641" y="13482"/>
                    <a:pt x="1380598" y="20619"/>
                    <a:pt x="1380598" y="28061"/>
                  </a:cubicBezTo>
                  <a:lnTo>
                    <a:pt x="1380598" y="290232"/>
                  </a:lnTo>
                  <a:cubicBezTo>
                    <a:pt x="1380598" y="297674"/>
                    <a:pt x="1377641" y="304812"/>
                    <a:pt x="1372379" y="310074"/>
                  </a:cubicBezTo>
                  <a:cubicBezTo>
                    <a:pt x="1367116" y="315337"/>
                    <a:pt x="1359979" y="318293"/>
                    <a:pt x="1352536" y="318293"/>
                  </a:cubicBezTo>
                  <a:lnTo>
                    <a:pt x="28061" y="318293"/>
                  </a:lnTo>
                  <a:cubicBezTo>
                    <a:pt x="20619" y="318293"/>
                    <a:pt x="13482" y="315337"/>
                    <a:pt x="8219" y="310074"/>
                  </a:cubicBezTo>
                  <a:cubicBezTo>
                    <a:pt x="2956" y="304812"/>
                    <a:pt x="0" y="297674"/>
                    <a:pt x="0" y="290232"/>
                  </a:cubicBezTo>
                  <a:lnTo>
                    <a:pt x="0" y="28061"/>
                  </a:lnTo>
                  <a:cubicBezTo>
                    <a:pt x="0" y="20619"/>
                    <a:pt x="2956" y="13482"/>
                    <a:pt x="8219" y="8219"/>
                  </a:cubicBezTo>
                  <a:cubicBezTo>
                    <a:pt x="13482" y="2956"/>
                    <a:pt x="20619" y="0"/>
                    <a:pt x="28061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4014" y="-313925"/>
              <a:ext cx="1380598" cy="756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r>
                <a:rPr lang="en-US" sz="32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Production Gap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3196423" y="2636653"/>
            <a:ext cx="2008514" cy="1135247"/>
          </a:xfrm>
          <a:custGeom>
            <a:avLst/>
            <a:gdLst/>
            <a:ahLst/>
            <a:cxnLst/>
            <a:rect l="l" t="t" r="r" b="b"/>
            <a:pathLst>
              <a:path w="2008514" h="1135247">
                <a:moveTo>
                  <a:pt x="0" y="0"/>
                </a:moveTo>
                <a:lnTo>
                  <a:pt x="2008514" y="0"/>
                </a:lnTo>
                <a:lnTo>
                  <a:pt x="2008514" y="1135247"/>
                </a:lnTo>
                <a:lnTo>
                  <a:pt x="0" y="11352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1966848" y="2868928"/>
            <a:ext cx="5308235" cy="2872125"/>
            <a:chOff x="0" y="-280770"/>
            <a:chExt cx="1398054" cy="75644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80598" cy="318293"/>
            </a:xfrm>
            <a:custGeom>
              <a:avLst/>
              <a:gdLst/>
              <a:ahLst/>
              <a:cxnLst/>
              <a:rect l="l" t="t" r="r" b="b"/>
              <a:pathLst>
                <a:path w="1380598" h="318293">
                  <a:moveTo>
                    <a:pt x="28061" y="0"/>
                  </a:moveTo>
                  <a:lnTo>
                    <a:pt x="1352536" y="0"/>
                  </a:lnTo>
                  <a:cubicBezTo>
                    <a:pt x="1359979" y="0"/>
                    <a:pt x="1367116" y="2956"/>
                    <a:pt x="1372379" y="8219"/>
                  </a:cubicBezTo>
                  <a:cubicBezTo>
                    <a:pt x="1377641" y="13482"/>
                    <a:pt x="1380598" y="20619"/>
                    <a:pt x="1380598" y="28061"/>
                  </a:cubicBezTo>
                  <a:lnTo>
                    <a:pt x="1380598" y="290232"/>
                  </a:lnTo>
                  <a:cubicBezTo>
                    <a:pt x="1380598" y="297674"/>
                    <a:pt x="1377641" y="304812"/>
                    <a:pt x="1372379" y="310074"/>
                  </a:cubicBezTo>
                  <a:cubicBezTo>
                    <a:pt x="1367116" y="315337"/>
                    <a:pt x="1359979" y="318293"/>
                    <a:pt x="1352536" y="318293"/>
                  </a:cubicBezTo>
                  <a:lnTo>
                    <a:pt x="28061" y="318293"/>
                  </a:lnTo>
                  <a:cubicBezTo>
                    <a:pt x="20619" y="318293"/>
                    <a:pt x="13482" y="315337"/>
                    <a:pt x="8219" y="310074"/>
                  </a:cubicBezTo>
                  <a:cubicBezTo>
                    <a:pt x="2956" y="304812"/>
                    <a:pt x="0" y="297674"/>
                    <a:pt x="0" y="290232"/>
                  </a:cubicBezTo>
                  <a:lnTo>
                    <a:pt x="0" y="28061"/>
                  </a:lnTo>
                  <a:cubicBezTo>
                    <a:pt x="0" y="20619"/>
                    <a:pt x="2956" y="13482"/>
                    <a:pt x="8219" y="8219"/>
                  </a:cubicBezTo>
                  <a:cubicBezTo>
                    <a:pt x="13482" y="2956"/>
                    <a:pt x="20619" y="0"/>
                    <a:pt x="28061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7456" y="-280770"/>
              <a:ext cx="1380598" cy="756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r>
                <a:rPr lang="en-US" sz="32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Dispatch and Delivery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1893727" y="5610225"/>
            <a:ext cx="2051382" cy="1332858"/>
          </a:xfrm>
          <a:custGeom>
            <a:avLst/>
            <a:gdLst/>
            <a:ahLst/>
            <a:cxnLst/>
            <a:rect l="l" t="t" r="r" b="b"/>
            <a:pathLst>
              <a:path w="2051382" h="1332858">
                <a:moveTo>
                  <a:pt x="0" y="0"/>
                </a:moveTo>
                <a:lnTo>
                  <a:pt x="2051381" y="0"/>
                </a:lnTo>
                <a:lnTo>
                  <a:pt x="2051381" y="1332858"/>
                </a:lnTo>
                <a:lnTo>
                  <a:pt x="0" y="13328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942" b="-39079"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012916" y="5973747"/>
            <a:ext cx="5257741" cy="2872125"/>
            <a:chOff x="-4157" y="-255298"/>
            <a:chExt cx="1384755" cy="75644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80598" cy="318293"/>
            </a:xfrm>
            <a:custGeom>
              <a:avLst/>
              <a:gdLst/>
              <a:ahLst/>
              <a:cxnLst/>
              <a:rect l="l" t="t" r="r" b="b"/>
              <a:pathLst>
                <a:path w="1380598" h="318293">
                  <a:moveTo>
                    <a:pt x="28061" y="0"/>
                  </a:moveTo>
                  <a:lnTo>
                    <a:pt x="1352536" y="0"/>
                  </a:lnTo>
                  <a:cubicBezTo>
                    <a:pt x="1359979" y="0"/>
                    <a:pt x="1367116" y="2956"/>
                    <a:pt x="1372379" y="8219"/>
                  </a:cubicBezTo>
                  <a:cubicBezTo>
                    <a:pt x="1377641" y="13482"/>
                    <a:pt x="1380598" y="20619"/>
                    <a:pt x="1380598" y="28061"/>
                  </a:cubicBezTo>
                  <a:lnTo>
                    <a:pt x="1380598" y="290232"/>
                  </a:lnTo>
                  <a:cubicBezTo>
                    <a:pt x="1380598" y="297674"/>
                    <a:pt x="1377641" y="304812"/>
                    <a:pt x="1372379" y="310074"/>
                  </a:cubicBezTo>
                  <a:cubicBezTo>
                    <a:pt x="1367116" y="315337"/>
                    <a:pt x="1359979" y="318293"/>
                    <a:pt x="1352536" y="318293"/>
                  </a:cubicBezTo>
                  <a:lnTo>
                    <a:pt x="28061" y="318293"/>
                  </a:lnTo>
                  <a:cubicBezTo>
                    <a:pt x="20619" y="318293"/>
                    <a:pt x="13482" y="315337"/>
                    <a:pt x="8219" y="310074"/>
                  </a:cubicBezTo>
                  <a:cubicBezTo>
                    <a:pt x="2956" y="304812"/>
                    <a:pt x="0" y="297674"/>
                    <a:pt x="0" y="290232"/>
                  </a:cubicBezTo>
                  <a:lnTo>
                    <a:pt x="0" y="28061"/>
                  </a:lnTo>
                  <a:cubicBezTo>
                    <a:pt x="0" y="20619"/>
                    <a:pt x="2956" y="13482"/>
                    <a:pt x="8219" y="8219"/>
                  </a:cubicBezTo>
                  <a:cubicBezTo>
                    <a:pt x="13482" y="2956"/>
                    <a:pt x="20619" y="0"/>
                    <a:pt x="28061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-4157" y="-255298"/>
              <a:ext cx="1380598" cy="756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r>
                <a:rPr lang="en-US" sz="32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Retail Order Distortion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8409676" y="5448300"/>
            <a:ext cx="1468649" cy="1468649"/>
          </a:xfrm>
          <a:custGeom>
            <a:avLst/>
            <a:gdLst/>
            <a:ahLst/>
            <a:cxnLst/>
            <a:rect l="l" t="t" r="r" b="b"/>
            <a:pathLst>
              <a:path w="1468649" h="1468649">
                <a:moveTo>
                  <a:pt x="0" y="0"/>
                </a:moveTo>
                <a:lnTo>
                  <a:pt x="1468648" y="0"/>
                </a:lnTo>
                <a:lnTo>
                  <a:pt x="1468648" y="1468649"/>
                </a:lnTo>
                <a:lnTo>
                  <a:pt x="0" y="14686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6496291" y="5927918"/>
            <a:ext cx="5257741" cy="2872125"/>
            <a:chOff x="0" y="-267368"/>
            <a:chExt cx="1384755" cy="75644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80598" cy="318293"/>
            </a:xfrm>
            <a:custGeom>
              <a:avLst/>
              <a:gdLst/>
              <a:ahLst/>
              <a:cxnLst/>
              <a:rect l="l" t="t" r="r" b="b"/>
              <a:pathLst>
                <a:path w="1380598" h="318293">
                  <a:moveTo>
                    <a:pt x="28061" y="0"/>
                  </a:moveTo>
                  <a:lnTo>
                    <a:pt x="1352536" y="0"/>
                  </a:lnTo>
                  <a:cubicBezTo>
                    <a:pt x="1359979" y="0"/>
                    <a:pt x="1367116" y="2956"/>
                    <a:pt x="1372379" y="8219"/>
                  </a:cubicBezTo>
                  <a:cubicBezTo>
                    <a:pt x="1377641" y="13482"/>
                    <a:pt x="1380598" y="20619"/>
                    <a:pt x="1380598" y="28061"/>
                  </a:cubicBezTo>
                  <a:lnTo>
                    <a:pt x="1380598" y="290232"/>
                  </a:lnTo>
                  <a:cubicBezTo>
                    <a:pt x="1380598" y="297674"/>
                    <a:pt x="1377641" y="304812"/>
                    <a:pt x="1372379" y="310074"/>
                  </a:cubicBezTo>
                  <a:cubicBezTo>
                    <a:pt x="1367116" y="315337"/>
                    <a:pt x="1359979" y="318293"/>
                    <a:pt x="1352536" y="318293"/>
                  </a:cubicBezTo>
                  <a:lnTo>
                    <a:pt x="28061" y="318293"/>
                  </a:lnTo>
                  <a:cubicBezTo>
                    <a:pt x="20619" y="318293"/>
                    <a:pt x="13482" y="315337"/>
                    <a:pt x="8219" y="310074"/>
                  </a:cubicBezTo>
                  <a:cubicBezTo>
                    <a:pt x="2956" y="304812"/>
                    <a:pt x="0" y="297674"/>
                    <a:pt x="0" y="290232"/>
                  </a:cubicBezTo>
                  <a:lnTo>
                    <a:pt x="0" y="28061"/>
                  </a:lnTo>
                  <a:cubicBezTo>
                    <a:pt x="0" y="20619"/>
                    <a:pt x="2956" y="13482"/>
                    <a:pt x="8219" y="8219"/>
                  </a:cubicBezTo>
                  <a:cubicBezTo>
                    <a:pt x="13482" y="2956"/>
                    <a:pt x="20619" y="0"/>
                    <a:pt x="28061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4157" y="-267368"/>
              <a:ext cx="1380598" cy="756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r>
                <a:rPr lang="en-US" sz="32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Inventory Gap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13970715" y="5448300"/>
            <a:ext cx="1234222" cy="1234222"/>
          </a:xfrm>
          <a:custGeom>
            <a:avLst/>
            <a:gdLst/>
            <a:ahLst/>
            <a:cxnLst/>
            <a:rect l="l" t="t" r="r" b="b"/>
            <a:pathLst>
              <a:path w="1234222" h="1234222">
                <a:moveTo>
                  <a:pt x="0" y="0"/>
                </a:moveTo>
                <a:lnTo>
                  <a:pt x="1234222" y="0"/>
                </a:lnTo>
                <a:lnTo>
                  <a:pt x="1234222" y="1234222"/>
                </a:lnTo>
                <a:lnTo>
                  <a:pt x="0" y="12342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5738309" y="637535"/>
            <a:ext cx="6257114" cy="90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Agenda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017343" y="5927918"/>
            <a:ext cx="5257741" cy="2872125"/>
            <a:chOff x="0" y="-260485"/>
            <a:chExt cx="1384755" cy="75644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80598" cy="318293"/>
            </a:xfrm>
            <a:custGeom>
              <a:avLst/>
              <a:gdLst/>
              <a:ahLst/>
              <a:cxnLst/>
              <a:rect l="l" t="t" r="r" b="b"/>
              <a:pathLst>
                <a:path w="1380598" h="318293">
                  <a:moveTo>
                    <a:pt x="28061" y="0"/>
                  </a:moveTo>
                  <a:lnTo>
                    <a:pt x="1352536" y="0"/>
                  </a:lnTo>
                  <a:cubicBezTo>
                    <a:pt x="1359979" y="0"/>
                    <a:pt x="1367116" y="2956"/>
                    <a:pt x="1372379" y="8219"/>
                  </a:cubicBezTo>
                  <a:cubicBezTo>
                    <a:pt x="1377641" y="13482"/>
                    <a:pt x="1380598" y="20619"/>
                    <a:pt x="1380598" y="28061"/>
                  </a:cubicBezTo>
                  <a:lnTo>
                    <a:pt x="1380598" y="290232"/>
                  </a:lnTo>
                  <a:cubicBezTo>
                    <a:pt x="1380598" y="297674"/>
                    <a:pt x="1377641" y="304812"/>
                    <a:pt x="1372379" y="310074"/>
                  </a:cubicBezTo>
                  <a:cubicBezTo>
                    <a:pt x="1367116" y="315337"/>
                    <a:pt x="1359979" y="318293"/>
                    <a:pt x="1352536" y="318293"/>
                  </a:cubicBezTo>
                  <a:lnTo>
                    <a:pt x="28061" y="318293"/>
                  </a:lnTo>
                  <a:cubicBezTo>
                    <a:pt x="20619" y="318293"/>
                    <a:pt x="13482" y="315337"/>
                    <a:pt x="8219" y="310074"/>
                  </a:cubicBezTo>
                  <a:cubicBezTo>
                    <a:pt x="2956" y="304812"/>
                    <a:pt x="0" y="297674"/>
                    <a:pt x="0" y="290232"/>
                  </a:cubicBezTo>
                  <a:lnTo>
                    <a:pt x="0" y="28061"/>
                  </a:lnTo>
                  <a:cubicBezTo>
                    <a:pt x="0" y="20619"/>
                    <a:pt x="2956" y="13482"/>
                    <a:pt x="8219" y="8219"/>
                  </a:cubicBezTo>
                  <a:cubicBezTo>
                    <a:pt x="13482" y="2956"/>
                    <a:pt x="20619" y="0"/>
                    <a:pt x="28061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4157" y="-260485"/>
              <a:ext cx="1380598" cy="756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r>
                <a:rPr lang="en-US" sz="32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Sales Fulfillment Gap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3D2C5-1927-1EDB-AAE4-AAE36166B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43FDC8A-D846-8EA1-8C7D-214D008FD778}"/>
              </a:ext>
            </a:extLst>
          </p:cNvPr>
          <p:cNvGrpSpPr/>
          <p:nvPr/>
        </p:nvGrpSpPr>
        <p:grpSpPr>
          <a:xfrm>
            <a:off x="-796411" y="1360532"/>
            <a:ext cx="1592821" cy="7565937"/>
            <a:chOff x="0" y="0"/>
            <a:chExt cx="419508" cy="199267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0FF0FE9-BED3-FDB9-7146-EF58335C5C87}"/>
                </a:ext>
              </a:extLst>
            </p:cNvPr>
            <p:cNvSpPr/>
            <p:nvPr/>
          </p:nvSpPr>
          <p:spPr>
            <a:xfrm>
              <a:off x="0" y="0"/>
              <a:ext cx="419508" cy="1992675"/>
            </a:xfrm>
            <a:custGeom>
              <a:avLst/>
              <a:gdLst/>
              <a:ahLst/>
              <a:cxnLst/>
              <a:rect l="l" t="t" r="r" b="b"/>
              <a:pathLst>
                <a:path w="419508" h="1992675">
                  <a:moveTo>
                    <a:pt x="209754" y="0"/>
                  </a:moveTo>
                  <a:lnTo>
                    <a:pt x="209754" y="0"/>
                  </a:lnTo>
                  <a:cubicBezTo>
                    <a:pt x="325598" y="0"/>
                    <a:pt x="419508" y="93910"/>
                    <a:pt x="419508" y="209754"/>
                  </a:cubicBezTo>
                  <a:lnTo>
                    <a:pt x="419508" y="1782920"/>
                  </a:lnTo>
                  <a:cubicBezTo>
                    <a:pt x="419508" y="1898765"/>
                    <a:pt x="325598" y="1992675"/>
                    <a:pt x="209754" y="1992675"/>
                  </a:cubicBezTo>
                  <a:lnTo>
                    <a:pt x="209754" y="1992675"/>
                  </a:lnTo>
                  <a:cubicBezTo>
                    <a:pt x="93910" y="1992675"/>
                    <a:pt x="0" y="1898765"/>
                    <a:pt x="0" y="1782920"/>
                  </a:cubicBezTo>
                  <a:lnTo>
                    <a:pt x="0" y="209754"/>
                  </a:lnTo>
                  <a:cubicBezTo>
                    <a:pt x="0" y="93910"/>
                    <a:pt x="93910" y="0"/>
                    <a:pt x="209754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745A9FE-3E64-8C03-D399-6B50A0D01B8A}"/>
                </a:ext>
              </a:extLst>
            </p:cNvPr>
            <p:cNvSpPr txBox="1"/>
            <p:nvPr/>
          </p:nvSpPr>
          <p:spPr>
            <a:xfrm>
              <a:off x="0" y="-333375"/>
              <a:ext cx="419508" cy="2326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5617FA5-B7E5-32E0-C77E-FC7AF7035984}"/>
              </a:ext>
            </a:extLst>
          </p:cNvPr>
          <p:cNvGrpSpPr/>
          <p:nvPr/>
        </p:nvGrpSpPr>
        <p:grpSpPr>
          <a:xfrm>
            <a:off x="17491589" y="1360532"/>
            <a:ext cx="1592821" cy="7565937"/>
            <a:chOff x="0" y="0"/>
            <a:chExt cx="419508" cy="199267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443A7F9-1229-78A7-75E4-3447850931FC}"/>
                </a:ext>
              </a:extLst>
            </p:cNvPr>
            <p:cNvSpPr/>
            <p:nvPr/>
          </p:nvSpPr>
          <p:spPr>
            <a:xfrm>
              <a:off x="0" y="0"/>
              <a:ext cx="419508" cy="1992675"/>
            </a:xfrm>
            <a:custGeom>
              <a:avLst/>
              <a:gdLst/>
              <a:ahLst/>
              <a:cxnLst/>
              <a:rect l="l" t="t" r="r" b="b"/>
              <a:pathLst>
                <a:path w="419508" h="1992675">
                  <a:moveTo>
                    <a:pt x="209754" y="0"/>
                  </a:moveTo>
                  <a:lnTo>
                    <a:pt x="209754" y="0"/>
                  </a:lnTo>
                  <a:cubicBezTo>
                    <a:pt x="325598" y="0"/>
                    <a:pt x="419508" y="93910"/>
                    <a:pt x="419508" y="209754"/>
                  </a:cubicBezTo>
                  <a:lnTo>
                    <a:pt x="419508" y="1782920"/>
                  </a:lnTo>
                  <a:cubicBezTo>
                    <a:pt x="419508" y="1898765"/>
                    <a:pt x="325598" y="1992675"/>
                    <a:pt x="209754" y="1992675"/>
                  </a:cubicBezTo>
                  <a:lnTo>
                    <a:pt x="209754" y="1992675"/>
                  </a:lnTo>
                  <a:cubicBezTo>
                    <a:pt x="93910" y="1992675"/>
                    <a:pt x="0" y="1898765"/>
                    <a:pt x="0" y="1782920"/>
                  </a:cubicBezTo>
                  <a:lnTo>
                    <a:pt x="0" y="209754"/>
                  </a:lnTo>
                  <a:cubicBezTo>
                    <a:pt x="0" y="93910"/>
                    <a:pt x="93910" y="0"/>
                    <a:pt x="209754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22E48F9-86E5-BA71-9FEF-F150FCF9BE6C}"/>
                </a:ext>
              </a:extLst>
            </p:cNvPr>
            <p:cNvSpPr txBox="1"/>
            <p:nvPr/>
          </p:nvSpPr>
          <p:spPr>
            <a:xfrm>
              <a:off x="0" y="-333375"/>
              <a:ext cx="419508" cy="2326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47637A32-57B0-4A5A-428E-D069AB046D73}"/>
              </a:ext>
            </a:extLst>
          </p:cNvPr>
          <p:cNvSpPr/>
          <p:nvPr/>
        </p:nvSpPr>
        <p:spPr>
          <a:xfrm>
            <a:off x="4407776" y="1865533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0C38582-DCB8-B961-2F9E-A1B1793ECDCF}"/>
              </a:ext>
            </a:extLst>
          </p:cNvPr>
          <p:cNvGrpSpPr/>
          <p:nvPr/>
        </p:nvGrpSpPr>
        <p:grpSpPr>
          <a:xfrm>
            <a:off x="998884" y="5946653"/>
            <a:ext cx="5368233" cy="2872125"/>
            <a:chOff x="-33258" y="-278763"/>
            <a:chExt cx="1413856" cy="75644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693C5E4-3636-E3A9-B0A0-DB938D847C96}"/>
                </a:ext>
              </a:extLst>
            </p:cNvPr>
            <p:cNvSpPr/>
            <p:nvPr/>
          </p:nvSpPr>
          <p:spPr>
            <a:xfrm>
              <a:off x="-33258" y="5022"/>
              <a:ext cx="1407560" cy="305313"/>
            </a:xfrm>
            <a:custGeom>
              <a:avLst/>
              <a:gdLst/>
              <a:ahLst/>
              <a:cxnLst/>
              <a:rect l="l" t="t" r="r" b="b"/>
              <a:pathLst>
                <a:path w="1380598" h="318293">
                  <a:moveTo>
                    <a:pt x="28061" y="0"/>
                  </a:moveTo>
                  <a:lnTo>
                    <a:pt x="1352536" y="0"/>
                  </a:lnTo>
                  <a:cubicBezTo>
                    <a:pt x="1359979" y="0"/>
                    <a:pt x="1367116" y="2956"/>
                    <a:pt x="1372379" y="8219"/>
                  </a:cubicBezTo>
                  <a:cubicBezTo>
                    <a:pt x="1377641" y="13482"/>
                    <a:pt x="1380598" y="20619"/>
                    <a:pt x="1380598" y="28061"/>
                  </a:cubicBezTo>
                  <a:lnTo>
                    <a:pt x="1380598" y="290232"/>
                  </a:lnTo>
                  <a:cubicBezTo>
                    <a:pt x="1380598" y="297674"/>
                    <a:pt x="1377641" y="304812"/>
                    <a:pt x="1372379" y="310074"/>
                  </a:cubicBezTo>
                  <a:cubicBezTo>
                    <a:pt x="1367116" y="315337"/>
                    <a:pt x="1359979" y="318293"/>
                    <a:pt x="1352536" y="318293"/>
                  </a:cubicBezTo>
                  <a:lnTo>
                    <a:pt x="28061" y="318293"/>
                  </a:lnTo>
                  <a:cubicBezTo>
                    <a:pt x="20619" y="318293"/>
                    <a:pt x="13482" y="315337"/>
                    <a:pt x="8219" y="310074"/>
                  </a:cubicBezTo>
                  <a:cubicBezTo>
                    <a:pt x="2956" y="304812"/>
                    <a:pt x="0" y="297674"/>
                    <a:pt x="0" y="290232"/>
                  </a:cubicBezTo>
                  <a:lnTo>
                    <a:pt x="0" y="28061"/>
                  </a:lnTo>
                  <a:cubicBezTo>
                    <a:pt x="0" y="20619"/>
                    <a:pt x="2956" y="13482"/>
                    <a:pt x="8219" y="8219"/>
                  </a:cubicBezTo>
                  <a:cubicBezTo>
                    <a:pt x="13482" y="2956"/>
                    <a:pt x="20619" y="0"/>
                    <a:pt x="28061" y="0"/>
                  </a:cubicBezTo>
                  <a:close/>
                </a:path>
              </a:pathLst>
            </a:custGeom>
            <a:solidFill>
              <a:srgbClr val="8D0000"/>
            </a:solidFill>
          </p:spPr>
          <p:txBody>
            <a:bodyPr/>
            <a:lstStyle/>
            <a:p>
              <a:r>
                <a:rPr lang="en-US" dirty="0"/>
                <a:t>                                          📉 </a:t>
              </a:r>
            </a:p>
            <a:p>
              <a:r>
                <a:rPr lang="en-US" sz="2800" b="1" dirty="0">
                  <a:solidFill>
                    <a:schemeClr val="bg1"/>
                  </a:solidFill>
                </a:rPr>
                <a:t>    Month-to-month gap volatility</a:t>
              </a:r>
            </a:p>
            <a:p>
              <a:endParaRPr lang="en-US" dirty="0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7A675C8-105F-70EF-F0A7-DA6B281E06D7}"/>
                </a:ext>
              </a:extLst>
            </p:cNvPr>
            <p:cNvSpPr txBox="1"/>
            <p:nvPr/>
          </p:nvSpPr>
          <p:spPr>
            <a:xfrm>
              <a:off x="0" y="-278763"/>
              <a:ext cx="1380598" cy="756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endParaRPr lang="en-US" sz="32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94D043BE-4FBB-0CC8-A891-8694757C7907}"/>
              </a:ext>
            </a:extLst>
          </p:cNvPr>
          <p:cNvGrpSpPr/>
          <p:nvPr/>
        </p:nvGrpSpPr>
        <p:grpSpPr>
          <a:xfrm>
            <a:off x="4962046" y="752155"/>
            <a:ext cx="8918178" cy="7453846"/>
            <a:chOff x="-424342" y="-1430353"/>
            <a:chExt cx="2348821" cy="196314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627F870-42AE-65A6-0FD7-80F7CBADE107}"/>
                </a:ext>
              </a:extLst>
            </p:cNvPr>
            <p:cNvSpPr/>
            <p:nvPr/>
          </p:nvSpPr>
          <p:spPr>
            <a:xfrm>
              <a:off x="4465" y="214503"/>
              <a:ext cx="1380598" cy="318293"/>
            </a:xfrm>
            <a:custGeom>
              <a:avLst/>
              <a:gdLst/>
              <a:ahLst/>
              <a:cxnLst/>
              <a:rect l="l" t="t" r="r" b="b"/>
              <a:pathLst>
                <a:path w="1380598" h="318293">
                  <a:moveTo>
                    <a:pt x="28061" y="0"/>
                  </a:moveTo>
                  <a:lnTo>
                    <a:pt x="1352536" y="0"/>
                  </a:lnTo>
                  <a:cubicBezTo>
                    <a:pt x="1359979" y="0"/>
                    <a:pt x="1367116" y="2956"/>
                    <a:pt x="1372379" y="8219"/>
                  </a:cubicBezTo>
                  <a:cubicBezTo>
                    <a:pt x="1377641" y="13482"/>
                    <a:pt x="1380598" y="20619"/>
                    <a:pt x="1380598" y="28061"/>
                  </a:cubicBezTo>
                  <a:lnTo>
                    <a:pt x="1380598" y="290232"/>
                  </a:lnTo>
                  <a:cubicBezTo>
                    <a:pt x="1380598" y="297674"/>
                    <a:pt x="1377641" y="304812"/>
                    <a:pt x="1372379" y="310074"/>
                  </a:cubicBezTo>
                  <a:cubicBezTo>
                    <a:pt x="1367116" y="315337"/>
                    <a:pt x="1359979" y="318293"/>
                    <a:pt x="1352536" y="318293"/>
                  </a:cubicBezTo>
                  <a:lnTo>
                    <a:pt x="28061" y="318293"/>
                  </a:lnTo>
                  <a:cubicBezTo>
                    <a:pt x="20619" y="318293"/>
                    <a:pt x="13482" y="315337"/>
                    <a:pt x="8219" y="310074"/>
                  </a:cubicBezTo>
                  <a:cubicBezTo>
                    <a:pt x="2956" y="304812"/>
                    <a:pt x="0" y="297674"/>
                    <a:pt x="0" y="290232"/>
                  </a:cubicBezTo>
                  <a:lnTo>
                    <a:pt x="0" y="28061"/>
                  </a:lnTo>
                  <a:cubicBezTo>
                    <a:pt x="0" y="20619"/>
                    <a:pt x="2956" y="13482"/>
                    <a:pt x="8219" y="8219"/>
                  </a:cubicBezTo>
                  <a:cubicBezTo>
                    <a:pt x="13482" y="2956"/>
                    <a:pt x="20619" y="0"/>
                    <a:pt x="28061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A72231E-FD06-38BA-1A17-3F680DFF0285}"/>
                </a:ext>
              </a:extLst>
            </p:cNvPr>
            <p:cNvSpPr txBox="1"/>
            <p:nvPr/>
          </p:nvSpPr>
          <p:spPr>
            <a:xfrm>
              <a:off x="-424342" y="-1430353"/>
              <a:ext cx="2348821" cy="756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r>
                <a:rPr lang="en-US" sz="3600" b="1" dirty="0"/>
                <a:t> Graph 1: Raw Material Gap Over </a:t>
              </a:r>
              <a:r>
                <a:rPr lang="en-US" sz="3600" b="1" dirty="0" err="1"/>
                <a:t>Time</a:t>
              </a:r>
              <a:r>
                <a:rPr lang="en-US" sz="3299" b="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ap</a:t>
              </a:r>
              <a:endParaRPr lang="en-US" sz="3299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9BF9192D-6B89-AD57-07B9-3AB5CFB70B85}"/>
              </a:ext>
            </a:extLst>
          </p:cNvPr>
          <p:cNvSpPr txBox="1"/>
          <p:nvPr/>
        </p:nvSpPr>
        <p:spPr>
          <a:xfrm>
            <a:off x="3502430" y="847981"/>
            <a:ext cx="10468285" cy="890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7200" b="1" dirty="0"/>
              <a:t> RAW MATERIAL GAP</a:t>
            </a:r>
            <a:endParaRPr lang="en-US" sz="68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5C91555-7B1A-FC3F-9298-8D9B89447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401" y="2764596"/>
            <a:ext cx="7373671" cy="404174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CB96804-A9B1-7020-D657-6DE5E061998F}"/>
              </a:ext>
            </a:extLst>
          </p:cNvPr>
          <p:cNvSpPr txBox="1"/>
          <p:nvPr/>
        </p:nvSpPr>
        <p:spPr>
          <a:xfrm>
            <a:off x="7211120" y="6997480"/>
            <a:ext cx="99364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                      🌍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No seasonal or trend cycles</a:t>
            </a:r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E1599D25-0C7B-65A0-8A86-58B9B1E9EC8E}"/>
              </a:ext>
            </a:extLst>
          </p:cNvPr>
          <p:cNvSpPr/>
          <p:nvPr/>
        </p:nvSpPr>
        <p:spPr>
          <a:xfrm>
            <a:off x="12196700" y="6997480"/>
            <a:ext cx="5092416" cy="1208521"/>
          </a:xfrm>
          <a:custGeom>
            <a:avLst/>
            <a:gdLst/>
            <a:ahLst/>
            <a:cxnLst/>
            <a:rect l="l" t="t" r="r" b="b"/>
            <a:pathLst>
              <a:path w="1380598" h="318293">
                <a:moveTo>
                  <a:pt x="28061" y="0"/>
                </a:moveTo>
                <a:lnTo>
                  <a:pt x="1352536" y="0"/>
                </a:lnTo>
                <a:cubicBezTo>
                  <a:pt x="1359979" y="0"/>
                  <a:pt x="1367116" y="2956"/>
                  <a:pt x="1372379" y="8219"/>
                </a:cubicBezTo>
                <a:cubicBezTo>
                  <a:pt x="1377641" y="13482"/>
                  <a:pt x="1380598" y="20619"/>
                  <a:pt x="1380598" y="28061"/>
                </a:cubicBezTo>
                <a:lnTo>
                  <a:pt x="1380598" y="290232"/>
                </a:lnTo>
                <a:cubicBezTo>
                  <a:pt x="1380598" y="297674"/>
                  <a:pt x="1377641" y="304812"/>
                  <a:pt x="1372379" y="310074"/>
                </a:cubicBezTo>
                <a:cubicBezTo>
                  <a:pt x="1367116" y="315337"/>
                  <a:pt x="1359979" y="318293"/>
                  <a:pt x="1352536" y="318293"/>
                </a:cubicBezTo>
                <a:lnTo>
                  <a:pt x="28061" y="318293"/>
                </a:lnTo>
                <a:cubicBezTo>
                  <a:pt x="20619" y="318293"/>
                  <a:pt x="13482" y="315337"/>
                  <a:pt x="8219" y="310074"/>
                </a:cubicBezTo>
                <a:cubicBezTo>
                  <a:pt x="2956" y="304812"/>
                  <a:pt x="0" y="297674"/>
                  <a:pt x="0" y="290232"/>
                </a:cubicBezTo>
                <a:lnTo>
                  <a:pt x="0" y="28061"/>
                </a:lnTo>
                <a:cubicBezTo>
                  <a:pt x="0" y="20619"/>
                  <a:pt x="2956" y="13482"/>
                  <a:pt x="8219" y="8219"/>
                </a:cubicBezTo>
                <a:cubicBezTo>
                  <a:pt x="13482" y="2956"/>
                  <a:pt x="20619" y="0"/>
                  <a:pt x="28061" y="0"/>
                </a:cubicBezTo>
                <a:close/>
              </a:path>
            </a:pathLst>
          </a:custGeom>
          <a:solidFill>
            <a:srgbClr val="8D0000"/>
          </a:solidFill>
        </p:spPr>
        <p:txBody>
          <a:bodyPr/>
          <a:lstStyle/>
          <a:p>
            <a:r>
              <a:rPr lang="en-US" dirty="0"/>
              <a:t>                                          📊 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West &amp; South show high unpredictability</a:t>
            </a:r>
          </a:p>
          <a:p>
            <a:endParaRPr lang="en-US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86F4D51-B966-0F4A-95B8-BEC3742FE655}"/>
              </a:ext>
            </a:extLst>
          </p:cNvPr>
          <p:cNvSpPr/>
          <p:nvPr/>
        </p:nvSpPr>
        <p:spPr>
          <a:xfrm>
            <a:off x="4424104" y="1956167"/>
            <a:ext cx="980347" cy="890372"/>
          </a:xfrm>
          <a:custGeom>
            <a:avLst/>
            <a:gdLst/>
            <a:ahLst/>
            <a:cxnLst/>
            <a:rect l="l" t="t" r="r" b="b"/>
            <a:pathLst>
              <a:path w="1665375" h="1665375">
                <a:moveTo>
                  <a:pt x="0" y="0"/>
                </a:moveTo>
                <a:lnTo>
                  <a:pt x="1665375" y="0"/>
                </a:lnTo>
                <a:lnTo>
                  <a:pt x="1665375" y="1665375"/>
                </a:lnTo>
                <a:lnTo>
                  <a:pt x="0" y="1665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535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2ED04-6C76-C533-D88D-9A94CA3B9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7701185-5228-2544-2B5A-908B60EBA927}"/>
              </a:ext>
            </a:extLst>
          </p:cNvPr>
          <p:cNvGrpSpPr/>
          <p:nvPr/>
        </p:nvGrpSpPr>
        <p:grpSpPr>
          <a:xfrm>
            <a:off x="12274433" y="2730175"/>
            <a:ext cx="5716207" cy="4826649"/>
            <a:chOff x="0" y="0"/>
            <a:chExt cx="1505503" cy="12712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4592DA8-12EE-1887-174C-64C0454C7EFB}"/>
                </a:ext>
              </a:extLst>
            </p:cNvPr>
            <p:cNvSpPr/>
            <p:nvPr/>
          </p:nvSpPr>
          <p:spPr>
            <a:xfrm>
              <a:off x="0" y="0"/>
              <a:ext cx="1505503" cy="1271216"/>
            </a:xfrm>
            <a:custGeom>
              <a:avLst/>
              <a:gdLst/>
              <a:ahLst/>
              <a:cxnLst/>
              <a:rect l="l" t="t" r="r" b="b"/>
              <a:pathLst>
                <a:path w="1505503" h="1271216">
                  <a:moveTo>
                    <a:pt x="25733" y="0"/>
                  </a:moveTo>
                  <a:lnTo>
                    <a:pt x="1479770" y="0"/>
                  </a:lnTo>
                  <a:cubicBezTo>
                    <a:pt x="1493982" y="0"/>
                    <a:pt x="1505503" y="11521"/>
                    <a:pt x="1505503" y="25733"/>
                  </a:cubicBezTo>
                  <a:lnTo>
                    <a:pt x="1505503" y="1245483"/>
                  </a:lnTo>
                  <a:cubicBezTo>
                    <a:pt x="1505503" y="1259695"/>
                    <a:pt x="1493982" y="1271216"/>
                    <a:pt x="1479770" y="1271216"/>
                  </a:cubicBezTo>
                  <a:lnTo>
                    <a:pt x="25733" y="1271216"/>
                  </a:lnTo>
                  <a:cubicBezTo>
                    <a:pt x="11521" y="1271216"/>
                    <a:pt x="0" y="1259695"/>
                    <a:pt x="0" y="1245483"/>
                  </a:cubicBezTo>
                  <a:lnTo>
                    <a:pt x="0" y="25733"/>
                  </a:lnTo>
                  <a:cubicBezTo>
                    <a:pt x="0" y="11521"/>
                    <a:pt x="11521" y="0"/>
                    <a:pt x="25733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77B9885-F2B2-4ADC-D2DF-18E09C8A224F}"/>
                </a:ext>
              </a:extLst>
            </p:cNvPr>
            <p:cNvSpPr txBox="1"/>
            <p:nvPr/>
          </p:nvSpPr>
          <p:spPr>
            <a:xfrm>
              <a:off x="0" y="-390525"/>
              <a:ext cx="1505503" cy="1661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47697" lvl="1" indent="-323848" algn="just">
                <a:lnSpc>
                  <a:spcPts val="7499"/>
                </a:lnSpc>
                <a:buFont typeface="Arial"/>
                <a:buChar char="•"/>
              </a:pPr>
              <a:endParaRPr lang="en-US" sz="2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1925AF4A-57F1-D1B7-240A-1035F6D05785}"/>
              </a:ext>
            </a:extLst>
          </p:cNvPr>
          <p:cNvSpPr/>
          <p:nvPr/>
        </p:nvSpPr>
        <p:spPr>
          <a:xfrm>
            <a:off x="295962" y="2390667"/>
            <a:ext cx="11476559" cy="5923672"/>
          </a:xfrm>
          <a:custGeom>
            <a:avLst/>
            <a:gdLst/>
            <a:ahLst/>
            <a:cxnLst/>
            <a:rect l="l" t="t" r="r" b="b"/>
            <a:pathLst>
              <a:path w="11476559" h="5923672">
                <a:moveTo>
                  <a:pt x="0" y="0"/>
                </a:moveTo>
                <a:lnTo>
                  <a:pt x="11476559" y="0"/>
                </a:lnTo>
                <a:lnTo>
                  <a:pt x="11476559" y="5923672"/>
                </a:lnTo>
                <a:lnTo>
                  <a:pt x="0" y="59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3" r="-603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DB2E81-1334-1D78-CDD3-D48CB0F225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62" y="2390667"/>
            <a:ext cx="11476558" cy="60294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3A84BF8B-B18E-3B37-4F58-DC71DEDC7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9672" y="3373785"/>
            <a:ext cx="548016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🔥❄️ Summer &amp; Winter: high gaps (West/South)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🧭 East = stable, North = mild winter issue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📉 Seasonal risk not addressed in planning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99DCBA-03A2-6E9E-EC93-97BAC8EB9223}"/>
              </a:ext>
            </a:extLst>
          </p:cNvPr>
          <p:cNvSpPr txBox="1"/>
          <p:nvPr/>
        </p:nvSpPr>
        <p:spPr>
          <a:xfrm>
            <a:off x="11803000" y="1609512"/>
            <a:ext cx="6561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📊 Graph 2: Avg Raw Material Gap by Season</a:t>
            </a:r>
          </a:p>
        </p:txBody>
      </p:sp>
    </p:spTree>
    <p:extLst>
      <p:ext uri="{BB962C8B-B14F-4D97-AF65-F5344CB8AC3E}">
        <p14:creationId xmlns:p14="http://schemas.microsoft.com/office/powerpoint/2010/main" val="2368005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0E756-212D-F093-33B2-DF095529A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6972FE2-D70F-629E-379D-3C9AF1465557}"/>
              </a:ext>
            </a:extLst>
          </p:cNvPr>
          <p:cNvGrpSpPr/>
          <p:nvPr/>
        </p:nvGrpSpPr>
        <p:grpSpPr>
          <a:xfrm>
            <a:off x="12274433" y="2730175"/>
            <a:ext cx="5716207" cy="4826649"/>
            <a:chOff x="0" y="0"/>
            <a:chExt cx="1505503" cy="12712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26AB3DF-1ECF-CBBC-0FA6-1E2379314634}"/>
                </a:ext>
              </a:extLst>
            </p:cNvPr>
            <p:cNvSpPr/>
            <p:nvPr/>
          </p:nvSpPr>
          <p:spPr>
            <a:xfrm>
              <a:off x="0" y="0"/>
              <a:ext cx="1505503" cy="1271216"/>
            </a:xfrm>
            <a:custGeom>
              <a:avLst/>
              <a:gdLst/>
              <a:ahLst/>
              <a:cxnLst/>
              <a:rect l="l" t="t" r="r" b="b"/>
              <a:pathLst>
                <a:path w="1505503" h="1271216">
                  <a:moveTo>
                    <a:pt x="25733" y="0"/>
                  </a:moveTo>
                  <a:lnTo>
                    <a:pt x="1479770" y="0"/>
                  </a:lnTo>
                  <a:cubicBezTo>
                    <a:pt x="1493982" y="0"/>
                    <a:pt x="1505503" y="11521"/>
                    <a:pt x="1505503" y="25733"/>
                  </a:cubicBezTo>
                  <a:lnTo>
                    <a:pt x="1505503" y="1245483"/>
                  </a:lnTo>
                  <a:cubicBezTo>
                    <a:pt x="1505503" y="1259695"/>
                    <a:pt x="1493982" y="1271216"/>
                    <a:pt x="1479770" y="1271216"/>
                  </a:cubicBezTo>
                  <a:lnTo>
                    <a:pt x="25733" y="1271216"/>
                  </a:lnTo>
                  <a:cubicBezTo>
                    <a:pt x="11521" y="1271216"/>
                    <a:pt x="0" y="1259695"/>
                    <a:pt x="0" y="1245483"/>
                  </a:cubicBezTo>
                  <a:lnTo>
                    <a:pt x="0" y="25733"/>
                  </a:lnTo>
                  <a:cubicBezTo>
                    <a:pt x="0" y="11521"/>
                    <a:pt x="11521" y="0"/>
                    <a:pt x="25733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DDC9B45-AC8E-C90E-A78C-9F5905AB92EE}"/>
                </a:ext>
              </a:extLst>
            </p:cNvPr>
            <p:cNvSpPr txBox="1"/>
            <p:nvPr/>
          </p:nvSpPr>
          <p:spPr>
            <a:xfrm>
              <a:off x="0" y="-390525"/>
              <a:ext cx="1505503" cy="1661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47697" lvl="1" indent="-323848" algn="just">
                <a:lnSpc>
                  <a:spcPts val="7499"/>
                </a:lnSpc>
                <a:buFont typeface="Arial"/>
                <a:buChar char="•"/>
              </a:pPr>
              <a:endParaRPr lang="en-US" sz="2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89118820-CAEF-13B1-76B9-768DA28456F6}"/>
              </a:ext>
            </a:extLst>
          </p:cNvPr>
          <p:cNvSpPr/>
          <p:nvPr/>
        </p:nvSpPr>
        <p:spPr>
          <a:xfrm>
            <a:off x="295962" y="2390667"/>
            <a:ext cx="11476559" cy="5923672"/>
          </a:xfrm>
          <a:custGeom>
            <a:avLst/>
            <a:gdLst/>
            <a:ahLst/>
            <a:cxnLst/>
            <a:rect l="l" t="t" r="r" b="b"/>
            <a:pathLst>
              <a:path w="11476559" h="5923672">
                <a:moveTo>
                  <a:pt x="0" y="0"/>
                </a:moveTo>
                <a:lnTo>
                  <a:pt x="11476559" y="0"/>
                </a:lnTo>
                <a:lnTo>
                  <a:pt x="11476559" y="5923672"/>
                </a:lnTo>
                <a:lnTo>
                  <a:pt x="0" y="59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3" r="-603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21D0F6-A4DD-0E37-C6D4-06051AB75D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62" y="2390667"/>
            <a:ext cx="11476558" cy="60294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64DA52-DC37-8A0C-86F2-6CC5D1418467}"/>
              </a:ext>
            </a:extLst>
          </p:cNvPr>
          <p:cNvSpPr txBox="1"/>
          <p:nvPr/>
        </p:nvSpPr>
        <p:spPr>
          <a:xfrm>
            <a:off x="11803000" y="1609512"/>
            <a:ext cx="6561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📊 Graph 2: Avg Production Gap by Season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18F042-7069-AC5A-5445-EAF45D6A75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43" y="2383047"/>
            <a:ext cx="11443878" cy="62656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C596EC9E-7622-6C6D-555C-493564E8B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10920" y="3565922"/>
            <a:ext cx="567708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🍂 Fall: East spikes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❄️ North: Winter peak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🚫 Mismatch with capacity &amp; resources</a:t>
            </a:r>
          </a:p>
        </p:txBody>
      </p:sp>
    </p:spTree>
    <p:extLst>
      <p:ext uri="{BB962C8B-B14F-4D97-AF65-F5344CB8AC3E}">
        <p14:creationId xmlns:p14="http://schemas.microsoft.com/office/powerpoint/2010/main" val="3684380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EAEF2-85AD-D8BF-AFE8-00A02BC0B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C92B04C1-5A4E-A0FE-4952-833E4B9D1695}"/>
              </a:ext>
            </a:extLst>
          </p:cNvPr>
          <p:cNvSpPr txBox="1"/>
          <p:nvPr/>
        </p:nvSpPr>
        <p:spPr>
          <a:xfrm>
            <a:off x="4495800" y="-48508"/>
            <a:ext cx="14397214" cy="299605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8249"/>
              </a:lnSpc>
            </a:pPr>
            <a:r>
              <a:rPr lang="en-US" sz="32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</a:t>
            </a:r>
            <a:r>
              <a:rPr lang="en-US" sz="3600" dirty="0"/>
              <a:t>📈</a:t>
            </a:r>
            <a:r>
              <a:rPr lang="en-US" sz="3600" b="1" dirty="0"/>
              <a:t>Graph 3: Dispatch Gap Over Time</a:t>
            </a:r>
            <a:r>
              <a:rPr lang="en-US" sz="32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Horizon: Next 6 months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9C697B5-8FBF-864A-B759-5033946DC929}"/>
              </a:ext>
            </a:extLst>
          </p:cNvPr>
          <p:cNvSpPr txBox="1"/>
          <p:nvPr/>
        </p:nvSpPr>
        <p:spPr>
          <a:xfrm>
            <a:off x="3919150" y="503899"/>
            <a:ext cx="11063883" cy="865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5400" b="1" dirty="0"/>
              <a:t>DISPATCH &amp; DELIVERY DELAYS</a:t>
            </a:r>
            <a:endParaRPr lang="en-US" sz="4999" b="1" dirty="0">
              <a:solidFill>
                <a:srgbClr val="8D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D288CE5-689D-5FD0-8D48-87277476E13A}"/>
              </a:ext>
            </a:extLst>
          </p:cNvPr>
          <p:cNvGrpSpPr/>
          <p:nvPr/>
        </p:nvGrpSpPr>
        <p:grpSpPr>
          <a:xfrm>
            <a:off x="4495800" y="6235787"/>
            <a:ext cx="10070516" cy="2996059"/>
            <a:chOff x="0" y="-438150"/>
            <a:chExt cx="3862430" cy="1248716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F5B446A-7890-CE63-6950-2EAB45E501F7}"/>
                </a:ext>
              </a:extLst>
            </p:cNvPr>
            <p:cNvSpPr/>
            <p:nvPr/>
          </p:nvSpPr>
          <p:spPr>
            <a:xfrm>
              <a:off x="70571" y="0"/>
              <a:ext cx="3791859" cy="810566"/>
            </a:xfrm>
            <a:custGeom>
              <a:avLst/>
              <a:gdLst/>
              <a:ahLst/>
              <a:cxnLst/>
              <a:rect l="l" t="t" r="r" b="b"/>
              <a:pathLst>
                <a:path w="3791859" h="810566">
                  <a:moveTo>
                    <a:pt x="10217" y="0"/>
                  </a:moveTo>
                  <a:lnTo>
                    <a:pt x="3781642" y="0"/>
                  </a:lnTo>
                  <a:cubicBezTo>
                    <a:pt x="3787285" y="0"/>
                    <a:pt x="3791859" y="4574"/>
                    <a:pt x="3791859" y="10217"/>
                  </a:cubicBezTo>
                  <a:lnTo>
                    <a:pt x="3791859" y="800349"/>
                  </a:lnTo>
                  <a:cubicBezTo>
                    <a:pt x="3791859" y="805992"/>
                    <a:pt x="3787285" y="810566"/>
                    <a:pt x="3781642" y="810566"/>
                  </a:cubicBezTo>
                  <a:lnTo>
                    <a:pt x="10217" y="810566"/>
                  </a:lnTo>
                  <a:cubicBezTo>
                    <a:pt x="4574" y="810566"/>
                    <a:pt x="0" y="805992"/>
                    <a:pt x="0" y="800349"/>
                  </a:cubicBezTo>
                  <a:lnTo>
                    <a:pt x="0" y="10217"/>
                  </a:lnTo>
                  <a:cubicBezTo>
                    <a:pt x="0" y="4574"/>
                    <a:pt x="4574" y="0"/>
                    <a:pt x="10217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1EDE3C2B-A7A9-4984-4C1B-D5E1CD534ED8}"/>
                </a:ext>
              </a:extLst>
            </p:cNvPr>
            <p:cNvSpPr txBox="1"/>
            <p:nvPr/>
          </p:nvSpPr>
          <p:spPr>
            <a:xfrm>
              <a:off x="0" y="-438150"/>
              <a:ext cx="3791859" cy="1248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endParaRPr lang="en-US" sz="32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2A0FF3D5-9199-8ACF-C47C-3EE6515B1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268" y="2072035"/>
            <a:ext cx="9107178" cy="49862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5045345-F17D-216C-5499-AF7FCE405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072035"/>
            <a:ext cx="9372600" cy="46297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Rectangle 2">
            <a:extLst>
              <a:ext uri="{FF2B5EF4-FFF2-40B4-BE49-F238E27FC236}">
                <a16:creationId xmlns:a16="http://schemas.microsoft.com/office/drawing/2014/main" id="{F0A7AA73-F9CD-6678-B64A-0C4F85BE7BB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400800" y="7339450"/>
            <a:ext cx="938013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↕️ Frequent under/over-fulfillment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🧊 South = excess inventory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🧭 North/East = dispatch shortfalls</a:t>
            </a:r>
          </a:p>
        </p:txBody>
      </p:sp>
      <p:sp>
        <p:nvSpPr>
          <p:cNvPr id="2" name="Freeform 17">
            <a:extLst>
              <a:ext uri="{FF2B5EF4-FFF2-40B4-BE49-F238E27FC236}">
                <a16:creationId xmlns:a16="http://schemas.microsoft.com/office/drawing/2014/main" id="{ECDD6430-8F79-5A98-DEE3-945C5F1EEAB1}"/>
              </a:ext>
            </a:extLst>
          </p:cNvPr>
          <p:cNvSpPr/>
          <p:nvPr/>
        </p:nvSpPr>
        <p:spPr>
          <a:xfrm>
            <a:off x="3808813" y="649942"/>
            <a:ext cx="1217455" cy="865623"/>
          </a:xfrm>
          <a:custGeom>
            <a:avLst/>
            <a:gdLst/>
            <a:ahLst/>
            <a:cxnLst/>
            <a:rect l="l" t="t" r="r" b="b"/>
            <a:pathLst>
              <a:path w="2008514" h="1135247">
                <a:moveTo>
                  <a:pt x="0" y="0"/>
                </a:moveTo>
                <a:lnTo>
                  <a:pt x="2008514" y="0"/>
                </a:lnTo>
                <a:lnTo>
                  <a:pt x="2008514" y="1135247"/>
                </a:lnTo>
                <a:lnTo>
                  <a:pt x="0" y="11352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945680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60A6B-A279-95A4-81CF-7006A5232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F2A9AF-CB3A-E53B-64D2-CF961EBDAE9D}"/>
              </a:ext>
            </a:extLst>
          </p:cNvPr>
          <p:cNvGrpSpPr/>
          <p:nvPr/>
        </p:nvGrpSpPr>
        <p:grpSpPr>
          <a:xfrm>
            <a:off x="12225496" y="2939178"/>
            <a:ext cx="5716207" cy="4826649"/>
            <a:chOff x="0" y="0"/>
            <a:chExt cx="1505503" cy="12712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14C997B-91C4-9D83-2FB2-3B7AEC50094E}"/>
                </a:ext>
              </a:extLst>
            </p:cNvPr>
            <p:cNvSpPr/>
            <p:nvPr/>
          </p:nvSpPr>
          <p:spPr>
            <a:xfrm>
              <a:off x="0" y="0"/>
              <a:ext cx="1505503" cy="1271216"/>
            </a:xfrm>
            <a:custGeom>
              <a:avLst/>
              <a:gdLst/>
              <a:ahLst/>
              <a:cxnLst/>
              <a:rect l="l" t="t" r="r" b="b"/>
              <a:pathLst>
                <a:path w="1505503" h="1271216">
                  <a:moveTo>
                    <a:pt x="25733" y="0"/>
                  </a:moveTo>
                  <a:lnTo>
                    <a:pt x="1479770" y="0"/>
                  </a:lnTo>
                  <a:cubicBezTo>
                    <a:pt x="1493982" y="0"/>
                    <a:pt x="1505503" y="11521"/>
                    <a:pt x="1505503" y="25733"/>
                  </a:cubicBezTo>
                  <a:lnTo>
                    <a:pt x="1505503" y="1245483"/>
                  </a:lnTo>
                  <a:cubicBezTo>
                    <a:pt x="1505503" y="1259695"/>
                    <a:pt x="1493982" y="1271216"/>
                    <a:pt x="1479770" y="1271216"/>
                  </a:cubicBezTo>
                  <a:lnTo>
                    <a:pt x="25733" y="1271216"/>
                  </a:lnTo>
                  <a:cubicBezTo>
                    <a:pt x="11521" y="1271216"/>
                    <a:pt x="0" y="1259695"/>
                    <a:pt x="0" y="1245483"/>
                  </a:cubicBezTo>
                  <a:lnTo>
                    <a:pt x="0" y="25733"/>
                  </a:lnTo>
                  <a:cubicBezTo>
                    <a:pt x="0" y="11521"/>
                    <a:pt x="11521" y="0"/>
                    <a:pt x="25733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9D7F1B-008E-A75E-C154-FAE2513F2290}"/>
                </a:ext>
              </a:extLst>
            </p:cNvPr>
            <p:cNvSpPr txBox="1"/>
            <p:nvPr/>
          </p:nvSpPr>
          <p:spPr>
            <a:xfrm>
              <a:off x="0" y="-390525"/>
              <a:ext cx="1505503" cy="1661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47697" lvl="1" indent="-323848" algn="just">
                <a:lnSpc>
                  <a:spcPts val="7499"/>
                </a:lnSpc>
                <a:buFont typeface="Arial"/>
                <a:buChar char="•"/>
              </a:pPr>
              <a:endParaRPr lang="en-US" sz="2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5CEC55-0FC7-E113-1AAD-549355C99C28}"/>
              </a:ext>
            </a:extLst>
          </p:cNvPr>
          <p:cNvSpPr txBox="1"/>
          <p:nvPr/>
        </p:nvSpPr>
        <p:spPr>
          <a:xfrm>
            <a:off x="11803000" y="1609512"/>
            <a:ext cx="656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📊 Graph 2: Avg Dispatch Gap by Season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B31B782C-C4C0-CFE9-2E45-5FF61BAF3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6800" y="3582787"/>
            <a:ext cx="492032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🌱 Spring = high gap (North/East)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❄️ Winter = West delay zone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🚧 Peaks unmanaged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C4E49A6-BF1B-9CC2-E3F6-DCC742D7A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041" y="1908567"/>
            <a:ext cx="9872115" cy="540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905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1A84A-8442-F7A8-6099-588EA0282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AB56835-921B-C882-34C8-BF4A255767B7}"/>
              </a:ext>
            </a:extLst>
          </p:cNvPr>
          <p:cNvGrpSpPr/>
          <p:nvPr/>
        </p:nvGrpSpPr>
        <p:grpSpPr>
          <a:xfrm>
            <a:off x="-796411" y="1360532"/>
            <a:ext cx="1592821" cy="7565937"/>
            <a:chOff x="0" y="0"/>
            <a:chExt cx="419508" cy="199267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136D374-BD0F-CD50-9D86-DF831CFE15E8}"/>
                </a:ext>
              </a:extLst>
            </p:cNvPr>
            <p:cNvSpPr/>
            <p:nvPr/>
          </p:nvSpPr>
          <p:spPr>
            <a:xfrm>
              <a:off x="0" y="0"/>
              <a:ext cx="419508" cy="1992675"/>
            </a:xfrm>
            <a:custGeom>
              <a:avLst/>
              <a:gdLst/>
              <a:ahLst/>
              <a:cxnLst/>
              <a:rect l="l" t="t" r="r" b="b"/>
              <a:pathLst>
                <a:path w="419508" h="1992675">
                  <a:moveTo>
                    <a:pt x="209754" y="0"/>
                  </a:moveTo>
                  <a:lnTo>
                    <a:pt x="209754" y="0"/>
                  </a:lnTo>
                  <a:cubicBezTo>
                    <a:pt x="325598" y="0"/>
                    <a:pt x="419508" y="93910"/>
                    <a:pt x="419508" y="209754"/>
                  </a:cubicBezTo>
                  <a:lnTo>
                    <a:pt x="419508" y="1782920"/>
                  </a:lnTo>
                  <a:cubicBezTo>
                    <a:pt x="419508" y="1898765"/>
                    <a:pt x="325598" y="1992675"/>
                    <a:pt x="209754" y="1992675"/>
                  </a:cubicBezTo>
                  <a:lnTo>
                    <a:pt x="209754" y="1992675"/>
                  </a:lnTo>
                  <a:cubicBezTo>
                    <a:pt x="93910" y="1992675"/>
                    <a:pt x="0" y="1898765"/>
                    <a:pt x="0" y="1782920"/>
                  </a:cubicBezTo>
                  <a:lnTo>
                    <a:pt x="0" y="209754"/>
                  </a:lnTo>
                  <a:cubicBezTo>
                    <a:pt x="0" y="93910"/>
                    <a:pt x="93910" y="0"/>
                    <a:pt x="209754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507472D-704E-4911-82EA-03B5285828E4}"/>
                </a:ext>
              </a:extLst>
            </p:cNvPr>
            <p:cNvSpPr txBox="1"/>
            <p:nvPr/>
          </p:nvSpPr>
          <p:spPr>
            <a:xfrm>
              <a:off x="0" y="-333375"/>
              <a:ext cx="419508" cy="2326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9E5A68A-126A-F33E-3F87-8E23FFE61066}"/>
              </a:ext>
            </a:extLst>
          </p:cNvPr>
          <p:cNvGrpSpPr/>
          <p:nvPr/>
        </p:nvGrpSpPr>
        <p:grpSpPr>
          <a:xfrm>
            <a:off x="17491589" y="1360532"/>
            <a:ext cx="1592821" cy="7565937"/>
            <a:chOff x="0" y="0"/>
            <a:chExt cx="419508" cy="199267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FB7D6CC-5BBB-DD6B-F370-5F5FDFF6768D}"/>
                </a:ext>
              </a:extLst>
            </p:cNvPr>
            <p:cNvSpPr/>
            <p:nvPr/>
          </p:nvSpPr>
          <p:spPr>
            <a:xfrm>
              <a:off x="0" y="0"/>
              <a:ext cx="419508" cy="1992675"/>
            </a:xfrm>
            <a:custGeom>
              <a:avLst/>
              <a:gdLst/>
              <a:ahLst/>
              <a:cxnLst/>
              <a:rect l="l" t="t" r="r" b="b"/>
              <a:pathLst>
                <a:path w="419508" h="1992675">
                  <a:moveTo>
                    <a:pt x="209754" y="0"/>
                  </a:moveTo>
                  <a:lnTo>
                    <a:pt x="209754" y="0"/>
                  </a:lnTo>
                  <a:cubicBezTo>
                    <a:pt x="325598" y="0"/>
                    <a:pt x="419508" y="93910"/>
                    <a:pt x="419508" y="209754"/>
                  </a:cubicBezTo>
                  <a:lnTo>
                    <a:pt x="419508" y="1782920"/>
                  </a:lnTo>
                  <a:cubicBezTo>
                    <a:pt x="419508" y="1898765"/>
                    <a:pt x="325598" y="1992675"/>
                    <a:pt x="209754" y="1992675"/>
                  </a:cubicBezTo>
                  <a:lnTo>
                    <a:pt x="209754" y="1992675"/>
                  </a:lnTo>
                  <a:cubicBezTo>
                    <a:pt x="93910" y="1992675"/>
                    <a:pt x="0" y="1898765"/>
                    <a:pt x="0" y="1782920"/>
                  </a:cubicBezTo>
                  <a:lnTo>
                    <a:pt x="0" y="209754"/>
                  </a:lnTo>
                  <a:cubicBezTo>
                    <a:pt x="0" y="93910"/>
                    <a:pt x="93910" y="0"/>
                    <a:pt x="209754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8E98929-320A-0957-C9E8-406F73B3DBF8}"/>
                </a:ext>
              </a:extLst>
            </p:cNvPr>
            <p:cNvSpPr txBox="1"/>
            <p:nvPr/>
          </p:nvSpPr>
          <p:spPr>
            <a:xfrm>
              <a:off x="0" y="-333375"/>
              <a:ext cx="419508" cy="2326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F28D0725-A547-59F1-0701-43CC57F3FEE5}"/>
              </a:ext>
            </a:extLst>
          </p:cNvPr>
          <p:cNvSpPr/>
          <p:nvPr/>
        </p:nvSpPr>
        <p:spPr>
          <a:xfrm>
            <a:off x="4407776" y="1865533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1551C08-026A-DE12-5F7C-A3A23057E5BD}"/>
              </a:ext>
            </a:extLst>
          </p:cNvPr>
          <p:cNvGrpSpPr/>
          <p:nvPr/>
        </p:nvGrpSpPr>
        <p:grpSpPr>
          <a:xfrm>
            <a:off x="1014125" y="5946653"/>
            <a:ext cx="5352992" cy="2872125"/>
            <a:chOff x="-29244" y="-278763"/>
            <a:chExt cx="1409842" cy="75644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02F6CFB-48C7-C7CD-42E2-18EFA9B5635D}"/>
                </a:ext>
              </a:extLst>
            </p:cNvPr>
            <p:cNvSpPr/>
            <p:nvPr/>
          </p:nvSpPr>
          <p:spPr>
            <a:xfrm>
              <a:off x="-29244" y="-2003"/>
              <a:ext cx="1407560" cy="305313"/>
            </a:xfrm>
            <a:custGeom>
              <a:avLst/>
              <a:gdLst/>
              <a:ahLst/>
              <a:cxnLst/>
              <a:rect l="l" t="t" r="r" b="b"/>
              <a:pathLst>
                <a:path w="1380598" h="318293">
                  <a:moveTo>
                    <a:pt x="28061" y="0"/>
                  </a:moveTo>
                  <a:lnTo>
                    <a:pt x="1352536" y="0"/>
                  </a:lnTo>
                  <a:cubicBezTo>
                    <a:pt x="1359979" y="0"/>
                    <a:pt x="1367116" y="2956"/>
                    <a:pt x="1372379" y="8219"/>
                  </a:cubicBezTo>
                  <a:cubicBezTo>
                    <a:pt x="1377641" y="13482"/>
                    <a:pt x="1380598" y="20619"/>
                    <a:pt x="1380598" y="28061"/>
                  </a:cubicBezTo>
                  <a:lnTo>
                    <a:pt x="1380598" y="290232"/>
                  </a:lnTo>
                  <a:cubicBezTo>
                    <a:pt x="1380598" y="297674"/>
                    <a:pt x="1377641" y="304812"/>
                    <a:pt x="1372379" y="310074"/>
                  </a:cubicBezTo>
                  <a:cubicBezTo>
                    <a:pt x="1367116" y="315337"/>
                    <a:pt x="1359979" y="318293"/>
                    <a:pt x="1352536" y="318293"/>
                  </a:cubicBezTo>
                  <a:lnTo>
                    <a:pt x="28061" y="318293"/>
                  </a:lnTo>
                  <a:cubicBezTo>
                    <a:pt x="20619" y="318293"/>
                    <a:pt x="13482" y="315337"/>
                    <a:pt x="8219" y="310074"/>
                  </a:cubicBezTo>
                  <a:cubicBezTo>
                    <a:pt x="2956" y="304812"/>
                    <a:pt x="0" y="297674"/>
                    <a:pt x="0" y="290232"/>
                  </a:cubicBezTo>
                  <a:lnTo>
                    <a:pt x="0" y="28061"/>
                  </a:lnTo>
                  <a:cubicBezTo>
                    <a:pt x="0" y="20619"/>
                    <a:pt x="2956" y="13482"/>
                    <a:pt x="8219" y="8219"/>
                  </a:cubicBezTo>
                  <a:cubicBezTo>
                    <a:pt x="13482" y="2956"/>
                    <a:pt x="20619" y="0"/>
                    <a:pt x="28061" y="0"/>
                  </a:cubicBezTo>
                  <a:close/>
                </a:path>
              </a:pathLst>
            </a:custGeom>
            <a:solidFill>
              <a:srgbClr val="8D0000"/>
            </a:solidFill>
          </p:spPr>
          <p:txBody>
            <a:bodyPr/>
            <a:lstStyle/>
            <a:p>
              <a:r>
                <a:rPr lang="en-US" sz="2800" dirty="0"/>
                <a:t>                              📦 </a:t>
              </a:r>
            </a:p>
            <a:p>
              <a:r>
                <a:rPr lang="en-US" sz="2800" b="1" dirty="0">
                  <a:solidFill>
                    <a:schemeClr val="bg1"/>
                  </a:solidFill>
                </a:rPr>
                <a:t>South = 7-day delays (Fall/Winter)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363E9D2-3995-4C91-6DD1-CE55FD16FCE2}"/>
                </a:ext>
              </a:extLst>
            </p:cNvPr>
            <p:cNvSpPr txBox="1"/>
            <p:nvPr/>
          </p:nvSpPr>
          <p:spPr>
            <a:xfrm>
              <a:off x="0" y="-278763"/>
              <a:ext cx="1380598" cy="756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endParaRPr lang="en-US" sz="32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A571482-C0F0-1020-1B44-18F1B92DC1DB}"/>
              </a:ext>
            </a:extLst>
          </p:cNvPr>
          <p:cNvGrpSpPr/>
          <p:nvPr/>
        </p:nvGrpSpPr>
        <p:grpSpPr>
          <a:xfrm>
            <a:off x="4840330" y="-195357"/>
            <a:ext cx="8918178" cy="8401358"/>
            <a:chOff x="-456399" y="-1679903"/>
            <a:chExt cx="2348821" cy="221269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E82B43D-F2EE-6963-A138-DDC8F95CE598}"/>
                </a:ext>
              </a:extLst>
            </p:cNvPr>
            <p:cNvSpPr/>
            <p:nvPr/>
          </p:nvSpPr>
          <p:spPr>
            <a:xfrm>
              <a:off x="4465" y="214503"/>
              <a:ext cx="1380598" cy="318293"/>
            </a:xfrm>
            <a:custGeom>
              <a:avLst/>
              <a:gdLst/>
              <a:ahLst/>
              <a:cxnLst/>
              <a:rect l="l" t="t" r="r" b="b"/>
              <a:pathLst>
                <a:path w="1380598" h="318293">
                  <a:moveTo>
                    <a:pt x="28061" y="0"/>
                  </a:moveTo>
                  <a:lnTo>
                    <a:pt x="1352536" y="0"/>
                  </a:lnTo>
                  <a:cubicBezTo>
                    <a:pt x="1359979" y="0"/>
                    <a:pt x="1367116" y="2956"/>
                    <a:pt x="1372379" y="8219"/>
                  </a:cubicBezTo>
                  <a:cubicBezTo>
                    <a:pt x="1377641" y="13482"/>
                    <a:pt x="1380598" y="20619"/>
                    <a:pt x="1380598" y="28061"/>
                  </a:cubicBezTo>
                  <a:lnTo>
                    <a:pt x="1380598" y="290232"/>
                  </a:lnTo>
                  <a:cubicBezTo>
                    <a:pt x="1380598" y="297674"/>
                    <a:pt x="1377641" y="304812"/>
                    <a:pt x="1372379" y="310074"/>
                  </a:cubicBezTo>
                  <a:cubicBezTo>
                    <a:pt x="1367116" y="315337"/>
                    <a:pt x="1359979" y="318293"/>
                    <a:pt x="1352536" y="318293"/>
                  </a:cubicBezTo>
                  <a:lnTo>
                    <a:pt x="28061" y="318293"/>
                  </a:lnTo>
                  <a:cubicBezTo>
                    <a:pt x="20619" y="318293"/>
                    <a:pt x="13482" y="315337"/>
                    <a:pt x="8219" y="310074"/>
                  </a:cubicBezTo>
                  <a:cubicBezTo>
                    <a:pt x="2956" y="304812"/>
                    <a:pt x="0" y="297674"/>
                    <a:pt x="0" y="290232"/>
                  </a:cubicBezTo>
                  <a:lnTo>
                    <a:pt x="0" y="28061"/>
                  </a:lnTo>
                  <a:cubicBezTo>
                    <a:pt x="0" y="20619"/>
                    <a:pt x="2956" y="13482"/>
                    <a:pt x="8219" y="8219"/>
                  </a:cubicBezTo>
                  <a:cubicBezTo>
                    <a:pt x="13482" y="2956"/>
                    <a:pt x="20619" y="0"/>
                    <a:pt x="28061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EB79B190-D494-01B3-B91E-941A481D0649}"/>
                </a:ext>
              </a:extLst>
            </p:cNvPr>
            <p:cNvSpPr txBox="1"/>
            <p:nvPr/>
          </p:nvSpPr>
          <p:spPr>
            <a:xfrm>
              <a:off x="-456399" y="-1679903"/>
              <a:ext cx="2348821" cy="756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r>
                <a:rPr lang="en-US" sz="3600" b="1" dirty="0"/>
                <a:t>📊 Graph 1: Delivery Delay by Season</a:t>
              </a:r>
              <a:endParaRPr lang="en-US" sz="3299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CE91AB6B-C672-7DC3-7168-8315C4B32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401" y="2764596"/>
            <a:ext cx="7373671" cy="4041741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443E05F-5A71-1089-4CB2-F72AD5EDE314}"/>
              </a:ext>
            </a:extLst>
          </p:cNvPr>
          <p:cNvSpPr txBox="1"/>
          <p:nvPr/>
        </p:nvSpPr>
        <p:spPr>
          <a:xfrm>
            <a:off x="6884754" y="6997478"/>
            <a:ext cx="54513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                     🧊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 Seasonal transport disruptions</a:t>
            </a:r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4489F5FA-6C1B-AC23-982D-9AA2B681A06F}"/>
              </a:ext>
            </a:extLst>
          </p:cNvPr>
          <p:cNvSpPr/>
          <p:nvPr/>
        </p:nvSpPr>
        <p:spPr>
          <a:xfrm>
            <a:off x="12070423" y="7005972"/>
            <a:ext cx="5092416" cy="1208521"/>
          </a:xfrm>
          <a:custGeom>
            <a:avLst/>
            <a:gdLst/>
            <a:ahLst/>
            <a:cxnLst/>
            <a:rect l="l" t="t" r="r" b="b"/>
            <a:pathLst>
              <a:path w="1380598" h="318293">
                <a:moveTo>
                  <a:pt x="28061" y="0"/>
                </a:moveTo>
                <a:lnTo>
                  <a:pt x="1352536" y="0"/>
                </a:lnTo>
                <a:cubicBezTo>
                  <a:pt x="1359979" y="0"/>
                  <a:pt x="1367116" y="2956"/>
                  <a:pt x="1372379" y="8219"/>
                </a:cubicBezTo>
                <a:cubicBezTo>
                  <a:pt x="1377641" y="13482"/>
                  <a:pt x="1380598" y="20619"/>
                  <a:pt x="1380598" y="28061"/>
                </a:cubicBezTo>
                <a:lnTo>
                  <a:pt x="1380598" y="290232"/>
                </a:lnTo>
                <a:cubicBezTo>
                  <a:pt x="1380598" y="297674"/>
                  <a:pt x="1377641" y="304812"/>
                  <a:pt x="1372379" y="310074"/>
                </a:cubicBezTo>
                <a:cubicBezTo>
                  <a:pt x="1367116" y="315337"/>
                  <a:pt x="1359979" y="318293"/>
                  <a:pt x="1352536" y="318293"/>
                </a:cubicBezTo>
                <a:lnTo>
                  <a:pt x="28061" y="318293"/>
                </a:lnTo>
                <a:cubicBezTo>
                  <a:pt x="20619" y="318293"/>
                  <a:pt x="13482" y="315337"/>
                  <a:pt x="8219" y="310074"/>
                </a:cubicBezTo>
                <a:cubicBezTo>
                  <a:pt x="2956" y="304812"/>
                  <a:pt x="0" y="297674"/>
                  <a:pt x="0" y="290232"/>
                </a:cubicBezTo>
                <a:lnTo>
                  <a:pt x="0" y="28061"/>
                </a:lnTo>
                <a:cubicBezTo>
                  <a:pt x="0" y="20619"/>
                  <a:pt x="2956" y="13482"/>
                  <a:pt x="8219" y="8219"/>
                </a:cubicBezTo>
                <a:cubicBezTo>
                  <a:pt x="13482" y="2956"/>
                  <a:pt x="20619" y="0"/>
                  <a:pt x="28061" y="0"/>
                </a:cubicBezTo>
                <a:close/>
              </a:path>
            </a:pathLst>
          </a:custGeom>
          <a:solidFill>
            <a:srgbClr val="8D0000"/>
          </a:solidFill>
        </p:spPr>
        <p:txBody>
          <a:bodyPr/>
          <a:lstStyle/>
          <a:p>
            <a:r>
              <a:rPr lang="en-US" sz="2800" dirty="0"/>
              <a:t>                           🚛</a:t>
            </a:r>
          </a:p>
          <a:p>
            <a:r>
              <a:rPr lang="en-US" sz="2800" dirty="0"/>
              <a:t>       </a:t>
            </a:r>
            <a:r>
              <a:rPr lang="en-US" sz="2800" b="1" dirty="0">
                <a:solidFill>
                  <a:schemeClr val="bg1"/>
                </a:solidFill>
              </a:rPr>
              <a:t>Logistics not winter-ready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48D173-6F78-CC28-EAEE-C2379EA060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401" y="2564834"/>
            <a:ext cx="7622683" cy="41782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8549A14-72F7-E9E6-F9E8-106662AC21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764" y="2564834"/>
            <a:ext cx="8083312" cy="442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818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4B77F-20DA-7AA0-8D91-1E8B79989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3D77549-6444-E695-E19A-175BD52D7807}"/>
              </a:ext>
            </a:extLst>
          </p:cNvPr>
          <p:cNvGrpSpPr/>
          <p:nvPr/>
        </p:nvGrpSpPr>
        <p:grpSpPr>
          <a:xfrm>
            <a:off x="12225496" y="2939178"/>
            <a:ext cx="5716207" cy="4826649"/>
            <a:chOff x="0" y="0"/>
            <a:chExt cx="1505503" cy="12712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66AA808-BCA5-52F8-680F-628FBA67D23E}"/>
                </a:ext>
              </a:extLst>
            </p:cNvPr>
            <p:cNvSpPr/>
            <p:nvPr/>
          </p:nvSpPr>
          <p:spPr>
            <a:xfrm>
              <a:off x="0" y="0"/>
              <a:ext cx="1505503" cy="1271216"/>
            </a:xfrm>
            <a:custGeom>
              <a:avLst/>
              <a:gdLst/>
              <a:ahLst/>
              <a:cxnLst/>
              <a:rect l="l" t="t" r="r" b="b"/>
              <a:pathLst>
                <a:path w="1505503" h="1271216">
                  <a:moveTo>
                    <a:pt x="25733" y="0"/>
                  </a:moveTo>
                  <a:lnTo>
                    <a:pt x="1479770" y="0"/>
                  </a:lnTo>
                  <a:cubicBezTo>
                    <a:pt x="1493982" y="0"/>
                    <a:pt x="1505503" y="11521"/>
                    <a:pt x="1505503" y="25733"/>
                  </a:cubicBezTo>
                  <a:lnTo>
                    <a:pt x="1505503" y="1245483"/>
                  </a:lnTo>
                  <a:cubicBezTo>
                    <a:pt x="1505503" y="1259695"/>
                    <a:pt x="1493982" y="1271216"/>
                    <a:pt x="1479770" y="1271216"/>
                  </a:cubicBezTo>
                  <a:lnTo>
                    <a:pt x="25733" y="1271216"/>
                  </a:lnTo>
                  <a:cubicBezTo>
                    <a:pt x="11521" y="1271216"/>
                    <a:pt x="0" y="1259695"/>
                    <a:pt x="0" y="1245483"/>
                  </a:cubicBezTo>
                  <a:lnTo>
                    <a:pt x="0" y="25733"/>
                  </a:lnTo>
                  <a:cubicBezTo>
                    <a:pt x="0" y="11521"/>
                    <a:pt x="11521" y="0"/>
                    <a:pt x="25733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97FA01B-1BC8-9B5E-3340-8D3223507C6D}"/>
                </a:ext>
              </a:extLst>
            </p:cNvPr>
            <p:cNvSpPr txBox="1"/>
            <p:nvPr/>
          </p:nvSpPr>
          <p:spPr>
            <a:xfrm>
              <a:off x="0" y="-390525"/>
              <a:ext cx="1505503" cy="1661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47697" lvl="1" indent="-323848" algn="just">
                <a:lnSpc>
                  <a:spcPts val="7499"/>
                </a:lnSpc>
                <a:buFont typeface="Arial"/>
                <a:buChar char="•"/>
              </a:pPr>
              <a:endParaRPr lang="en-US" sz="2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73BE8DC5-EF54-DF0B-AC1E-89366A808B17}"/>
              </a:ext>
            </a:extLst>
          </p:cNvPr>
          <p:cNvSpPr/>
          <p:nvPr/>
        </p:nvSpPr>
        <p:spPr>
          <a:xfrm>
            <a:off x="295962" y="2390667"/>
            <a:ext cx="11476559" cy="5923672"/>
          </a:xfrm>
          <a:custGeom>
            <a:avLst/>
            <a:gdLst/>
            <a:ahLst/>
            <a:cxnLst/>
            <a:rect l="l" t="t" r="r" b="b"/>
            <a:pathLst>
              <a:path w="11476559" h="5923672">
                <a:moveTo>
                  <a:pt x="0" y="0"/>
                </a:moveTo>
                <a:lnTo>
                  <a:pt x="11476559" y="0"/>
                </a:lnTo>
                <a:lnTo>
                  <a:pt x="11476559" y="5923672"/>
                </a:lnTo>
                <a:lnTo>
                  <a:pt x="0" y="59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3" r="-603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1AF052-A8B3-7EBD-A7EF-64122A343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62" y="2390667"/>
            <a:ext cx="11476558" cy="60294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B3F3FD-ECE5-C472-698A-CE92AF417079}"/>
              </a:ext>
            </a:extLst>
          </p:cNvPr>
          <p:cNvSpPr txBox="1"/>
          <p:nvPr/>
        </p:nvSpPr>
        <p:spPr>
          <a:xfrm>
            <a:off x="11678881" y="1972661"/>
            <a:ext cx="656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📊 Graph 2: Retail Distortion over time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C1FB92-6757-E44A-9EFD-8D11548F2F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43" y="2383047"/>
            <a:ext cx="11443878" cy="62656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EF25FD-DA0A-DBB2-989B-E1E369470B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09" y="2383047"/>
            <a:ext cx="11376412" cy="622871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2A12E5B-5E54-72DE-01DA-E685E95058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100" y="2438236"/>
            <a:ext cx="10803886" cy="5915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FCC457-BC80-834A-1313-80269D629BB6}"/>
              </a:ext>
            </a:extLst>
          </p:cNvPr>
          <p:cNvSpPr txBox="1"/>
          <p:nvPr/>
        </p:nvSpPr>
        <p:spPr>
          <a:xfrm>
            <a:off x="5105400" y="517163"/>
            <a:ext cx="9335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🛒 RETAIL ORDER &amp; DISTORTION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B0160F-226E-3B18-56CD-C7CEADE42D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97" y="2383048"/>
            <a:ext cx="11347824" cy="63281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18EFDB99-BFB8-0C2A-8427-CC929628A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8377" y="3373785"/>
            <a:ext cx="51816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🔁 Volatility = missed sales / overstock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🧭 North = most unstable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🕶️ Planning blind spots</a:t>
            </a:r>
          </a:p>
        </p:txBody>
      </p:sp>
    </p:spTree>
    <p:extLst>
      <p:ext uri="{BB962C8B-B14F-4D97-AF65-F5344CB8AC3E}">
        <p14:creationId xmlns:p14="http://schemas.microsoft.com/office/powerpoint/2010/main" val="1662203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060E4-A973-43F5-0091-B6574B5A3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D5137243-4642-06AC-AE6D-D92C012051EE}"/>
              </a:ext>
            </a:extLst>
          </p:cNvPr>
          <p:cNvSpPr txBox="1"/>
          <p:nvPr/>
        </p:nvSpPr>
        <p:spPr>
          <a:xfrm>
            <a:off x="3919150" y="-139603"/>
            <a:ext cx="14397214" cy="299605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8249"/>
              </a:lnSpc>
            </a:pPr>
            <a:r>
              <a:rPr lang="en-US" sz="3600" b="1" dirty="0"/>
              <a:t>📊 Graph 3: Avg Distortion by Season</a:t>
            </a:r>
            <a:r>
              <a:rPr lang="en-US" sz="32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: Next 6 months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A4A263A-411D-BEE2-95B8-56C5E6102F73}"/>
              </a:ext>
            </a:extLst>
          </p:cNvPr>
          <p:cNvGrpSpPr/>
          <p:nvPr/>
        </p:nvGrpSpPr>
        <p:grpSpPr>
          <a:xfrm>
            <a:off x="4803585" y="5945065"/>
            <a:ext cx="10046882" cy="3516703"/>
            <a:chOff x="0" y="-438150"/>
            <a:chExt cx="3862430" cy="1248716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D07B54A-2707-B97E-3D2C-51A6D86DD0BE}"/>
                </a:ext>
              </a:extLst>
            </p:cNvPr>
            <p:cNvSpPr/>
            <p:nvPr/>
          </p:nvSpPr>
          <p:spPr>
            <a:xfrm>
              <a:off x="70571" y="0"/>
              <a:ext cx="3791859" cy="810566"/>
            </a:xfrm>
            <a:custGeom>
              <a:avLst/>
              <a:gdLst/>
              <a:ahLst/>
              <a:cxnLst/>
              <a:rect l="l" t="t" r="r" b="b"/>
              <a:pathLst>
                <a:path w="3791859" h="810566">
                  <a:moveTo>
                    <a:pt x="10217" y="0"/>
                  </a:moveTo>
                  <a:lnTo>
                    <a:pt x="3781642" y="0"/>
                  </a:lnTo>
                  <a:cubicBezTo>
                    <a:pt x="3787285" y="0"/>
                    <a:pt x="3791859" y="4574"/>
                    <a:pt x="3791859" y="10217"/>
                  </a:cubicBezTo>
                  <a:lnTo>
                    <a:pt x="3791859" y="800349"/>
                  </a:lnTo>
                  <a:cubicBezTo>
                    <a:pt x="3791859" y="805992"/>
                    <a:pt x="3787285" y="810566"/>
                    <a:pt x="3781642" y="810566"/>
                  </a:cubicBezTo>
                  <a:lnTo>
                    <a:pt x="10217" y="810566"/>
                  </a:lnTo>
                  <a:cubicBezTo>
                    <a:pt x="4574" y="810566"/>
                    <a:pt x="0" y="805992"/>
                    <a:pt x="0" y="800349"/>
                  </a:cubicBezTo>
                  <a:lnTo>
                    <a:pt x="0" y="10217"/>
                  </a:lnTo>
                  <a:cubicBezTo>
                    <a:pt x="0" y="4574"/>
                    <a:pt x="4574" y="0"/>
                    <a:pt x="10217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F9A6AD-C4C8-59FD-2353-004983BB643C}"/>
                </a:ext>
              </a:extLst>
            </p:cNvPr>
            <p:cNvSpPr txBox="1"/>
            <p:nvPr/>
          </p:nvSpPr>
          <p:spPr>
            <a:xfrm>
              <a:off x="0" y="-438150"/>
              <a:ext cx="3791859" cy="1248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endParaRPr lang="en-US" sz="32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3121A4D-DEFB-C183-B706-03FBC75A3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268" y="2072035"/>
            <a:ext cx="9107178" cy="49862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694189A-BDD8-6647-C647-4739C2527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072035"/>
            <a:ext cx="9372600" cy="4629733"/>
          </a:xfrm>
          <a:prstGeom prst="rect">
            <a:avLst/>
          </a:prstGeom>
        </p:spPr>
      </p:pic>
      <p:sp>
        <p:nvSpPr>
          <p:cNvPr id="21" name="Rectangle 2">
            <a:extLst>
              <a:ext uri="{FF2B5EF4-FFF2-40B4-BE49-F238E27FC236}">
                <a16:creationId xmlns:a16="http://schemas.microsoft.com/office/drawing/2014/main" id="{512864ED-DBE4-C9AC-16D6-B34CC0A9291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186183" y="7272178"/>
            <a:ext cx="9380133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🍂 North = Fall spike, ❄️ South = Winter spike</a:t>
            </a:r>
          </a:p>
          <a:p>
            <a:r>
              <a:rPr lang="en-US" sz="3600" b="1" dirty="0">
                <a:solidFill>
                  <a:schemeClr val="bg1"/>
                </a:solidFill>
              </a:rPr>
              <a:t>🚫 No region-season strategy</a:t>
            </a:r>
          </a:p>
          <a:p>
            <a:r>
              <a:rPr lang="en-US" sz="3600" b="1" dirty="0">
                <a:solidFill>
                  <a:schemeClr val="bg1"/>
                </a:solidFill>
              </a:rPr>
              <a:t>📋 Generic planning fails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313CE-7085-45F6-5ED1-95362AE0A4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336" y="1952300"/>
            <a:ext cx="9329861" cy="51082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97695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408BB-343F-B1B6-D7E1-C999EAAE9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CCADC34-BABB-DE94-735F-BA3BAFB1317D}"/>
              </a:ext>
            </a:extLst>
          </p:cNvPr>
          <p:cNvGrpSpPr/>
          <p:nvPr/>
        </p:nvGrpSpPr>
        <p:grpSpPr>
          <a:xfrm>
            <a:off x="-796411" y="1360532"/>
            <a:ext cx="1592821" cy="7565937"/>
            <a:chOff x="0" y="0"/>
            <a:chExt cx="419508" cy="199267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D72061C-5603-A048-9220-44A26A01D1A1}"/>
                </a:ext>
              </a:extLst>
            </p:cNvPr>
            <p:cNvSpPr/>
            <p:nvPr/>
          </p:nvSpPr>
          <p:spPr>
            <a:xfrm>
              <a:off x="0" y="0"/>
              <a:ext cx="419508" cy="1992675"/>
            </a:xfrm>
            <a:custGeom>
              <a:avLst/>
              <a:gdLst/>
              <a:ahLst/>
              <a:cxnLst/>
              <a:rect l="l" t="t" r="r" b="b"/>
              <a:pathLst>
                <a:path w="419508" h="1992675">
                  <a:moveTo>
                    <a:pt x="209754" y="0"/>
                  </a:moveTo>
                  <a:lnTo>
                    <a:pt x="209754" y="0"/>
                  </a:lnTo>
                  <a:cubicBezTo>
                    <a:pt x="325598" y="0"/>
                    <a:pt x="419508" y="93910"/>
                    <a:pt x="419508" y="209754"/>
                  </a:cubicBezTo>
                  <a:lnTo>
                    <a:pt x="419508" y="1782920"/>
                  </a:lnTo>
                  <a:cubicBezTo>
                    <a:pt x="419508" y="1898765"/>
                    <a:pt x="325598" y="1992675"/>
                    <a:pt x="209754" y="1992675"/>
                  </a:cubicBezTo>
                  <a:lnTo>
                    <a:pt x="209754" y="1992675"/>
                  </a:lnTo>
                  <a:cubicBezTo>
                    <a:pt x="93910" y="1992675"/>
                    <a:pt x="0" y="1898765"/>
                    <a:pt x="0" y="1782920"/>
                  </a:cubicBezTo>
                  <a:lnTo>
                    <a:pt x="0" y="209754"/>
                  </a:lnTo>
                  <a:cubicBezTo>
                    <a:pt x="0" y="93910"/>
                    <a:pt x="93910" y="0"/>
                    <a:pt x="209754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A7EE073-B452-0F2F-F488-D067F3BACB06}"/>
                </a:ext>
              </a:extLst>
            </p:cNvPr>
            <p:cNvSpPr txBox="1"/>
            <p:nvPr/>
          </p:nvSpPr>
          <p:spPr>
            <a:xfrm>
              <a:off x="0" y="-333375"/>
              <a:ext cx="419508" cy="2326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34085B8-31F8-D201-26A9-DD5A0F4546BB}"/>
              </a:ext>
            </a:extLst>
          </p:cNvPr>
          <p:cNvGrpSpPr/>
          <p:nvPr/>
        </p:nvGrpSpPr>
        <p:grpSpPr>
          <a:xfrm>
            <a:off x="17491589" y="1360532"/>
            <a:ext cx="1592821" cy="7565937"/>
            <a:chOff x="0" y="0"/>
            <a:chExt cx="419508" cy="199267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261679D-196D-EBEC-2EDB-7E36DEE6733D}"/>
                </a:ext>
              </a:extLst>
            </p:cNvPr>
            <p:cNvSpPr/>
            <p:nvPr/>
          </p:nvSpPr>
          <p:spPr>
            <a:xfrm>
              <a:off x="0" y="0"/>
              <a:ext cx="419508" cy="1992675"/>
            </a:xfrm>
            <a:custGeom>
              <a:avLst/>
              <a:gdLst/>
              <a:ahLst/>
              <a:cxnLst/>
              <a:rect l="l" t="t" r="r" b="b"/>
              <a:pathLst>
                <a:path w="419508" h="1992675">
                  <a:moveTo>
                    <a:pt x="209754" y="0"/>
                  </a:moveTo>
                  <a:lnTo>
                    <a:pt x="209754" y="0"/>
                  </a:lnTo>
                  <a:cubicBezTo>
                    <a:pt x="325598" y="0"/>
                    <a:pt x="419508" y="93910"/>
                    <a:pt x="419508" y="209754"/>
                  </a:cubicBezTo>
                  <a:lnTo>
                    <a:pt x="419508" y="1782920"/>
                  </a:lnTo>
                  <a:cubicBezTo>
                    <a:pt x="419508" y="1898765"/>
                    <a:pt x="325598" y="1992675"/>
                    <a:pt x="209754" y="1992675"/>
                  </a:cubicBezTo>
                  <a:lnTo>
                    <a:pt x="209754" y="1992675"/>
                  </a:lnTo>
                  <a:cubicBezTo>
                    <a:pt x="93910" y="1992675"/>
                    <a:pt x="0" y="1898765"/>
                    <a:pt x="0" y="1782920"/>
                  </a:cubicBezTo>
                  <a:lnTo>
                    <a:pt x="0" y="209754"/>
                  </a:lnTo>
                  <a:cubicBezTo>
                    <a:pt x="0" y="93910"/>
                    <a:pt x="93910" y="0"/>
                    <a:pt x="209754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E23D518-0EC3-09A7-44B9-0498C0C066E7}"/>
                </a:ext>
              </a:extLst>
            </p:cNvPr>
            <p:cNvSpPr txBox="1"/>
            <p:nvPr/>
          </p:nvSpPr>
          <p:spPr>
            <a:xfrm>
              <a:off x="0" y="-333375"/>
              <a:ext cx="419508" cy="2326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97AFB015-7D1B-2944-9F75-9AD8170AFB69}"/>
              </a:ext>
            </a:extLst>
          </p:cNvPr>
          <p:cNvSpPr/>
          <p:nvPr/>
        </p:nvSpPr>
        <p:spPr>
          <a:xfrm>
            <a:off x="4407776" y="1865533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5F494CB-F11E-4A9C-B8E4-CEBF8D20E90D}"/>
              </a:ext>
            </a:extLst>
          </p:cNvPr>
          <p:cNvGrpSpPr/>
          <p:nvPr/>
        </p:nvGrpSpPr>
        <p:grpSpPr>
          <a:xfrm>
            <a:off x="1062515" y="6997480"/>
            <a:ext cx="5352992" cy="2872125"/>
            <a:chOff x="-29244" y="-278763"/>
            <a:chExt cx="1409842" cy="75644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92E0381-53C5-49E5-70BE-6ED14C2AD056}"/>
                </a:ext>
              </a:extLst>
            </p:cNvPr>
            <p:cNvSpPr/>
            <p:nvPr/>
          </p:nvSpPr>
          <p:spPr>
            <a:xfrm>
              <a:off x="-29244" y="-2003"/>
              <a:ext cx="1407560" cy="305313"/>
            </a:xfrm>
            <a:custGeom>
              <a:avLst/>
              <a:gdLst/>
              <a:ahLst/>
              <a:cxnLst/>
              <a:rect l="l" t="t" r="r" b="b"/>
              <a:pathLst>
                <a:path w="1380598" h="318293">
                  <a:moveTo>
                    <a:pt x="28061" y="0"/>
                  </a:moveTo>
                  <a:lnTo>
                    <a:pt x="1352536" y="0"/>
                  </a:lnTo>
                  <a:cubicBezTo>
                    <a:pt x="1359979" y="0"/>
                    <a:pt x="1367116" y="2956"/>
                    <a:pt x="1372379" y="8219"/>
                  </a:cubicBezTo>
                  <a:cubicBezTo>
                    <a:pt x="1377641" y="13482"/>
                    <a:pt x="1380598" y="20619"/>
                    <a:pt x="1380598" y="28061"/>
                  </a:cubicBezTo>
                  <a:lnTo>
                    <a:pt x="1380598" y="290232"/>
                  </a:lnTo>
                  <a:cubicBezTo>
                    <a:pt x="1380598" y="297674"/>
                    <a:pt x="1377641" y="304812"/>
                    <a:pt x="1372379" y="310074"/>
                  </a:cubicBezTo>
                  <a:cubicBezTo>
                    <a:pt x="1367116" y="315337"/>
                    <a:pt x="1359979" y="318293"/>
                    <a:pt x="1352536" y="318293"/>
                  </a:cubicBezTo>
                  <a:lnTo>
                    <a:pt x="28061" y="318293"/>
                  </a:lnTo>
                  <a:cubicBezTo>
                    <a:pt x="20619" y="318293"/>
                    <a:pt x="13482" y="315337"/>
                    <a:pt x="8219" y="310074"/>
                  </a:cubicBezTo>
                  <a:cubicBezTo>
                    <a:pt x="2956" y="304812"/>
                    <a:pt x="0" y="297674"/>
                    <a:pt x="0" y="290232"/>
                  </a:cubicBezTo>
                  <a:lnTo>
                    <a:pt x="0" y="28061"/>
                  </a:lnTo>
                  <a:cubicBezTo>
                    <a:pt x="0" y="20619"/>
                    <a:pt x="2956" y="13482"/>
                    <a:pt x="8219" y="8219"/>
                  </a:cubicBezTo>
                  <a:cubicBezTo>
                    <a:pt x="13482" y="2956"/>
                    <a:pt x="20619" y="0"/>
                    <a:pt x="28061" y="0"/>
                  </a:cubicBezTo>
                  <a:close/>
                </a:path>
              </a:pathLst>
            </a:custGeom>
            <a:solidFill>
              <a:srgbClr val="8D0000"/>
            </a:solidFill>
          </p:spPr>
          <p:txBody>
            <a:bodyPr/>
            <a:lstStyle/>
            <a:p>
              <a:r>
                <a:rPr lang="en-US" sz="2800" dirty="0"/>
                <a:t>                             📉 </a:t>
              </a:r>
            </a:p>
            <a:p>
              <a:r>
                <a:rPr lang="en-US" sz="2800" b="1" dirty="0">
                  <a:solidFill>
                    <a:schemeClr val="bg1"/>
                  </a:solidFill>
                </a:rPr>
                <a:t>      Consistently negative gaps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32B9325-D3F6-101A-F404-BD8F43847C60}"/>
                </a:ext>
              </a:extLst>
            </p:cNvPr>
            <p:cNvSpPr txBox="1"/>
            <p:nvPr/>
          </p:nvSpPr>
          <p:spPr>
            <a:xfrm>
              <a:off x="0" y="-278763"/>
              <a:ext cx="1380598" cy="756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endParaRPr lang="en-US" sz="32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A8D83DEE-3932-9AC6-8167-C1F1B0B7C62A}"/>
              </a:ext>
            </a:extLst>
          </p:cNvPr>
          <p:cNvGrpSpPr/>
          <p:nvPr/>
        </p:nvGrpSpPr>
        <p:grpSpPr>
          <a:xfrm>
            <a:off x="5052537" y="1620950"/>
            <a:ext cx="8918178" cy="7561066"/>
            <a:chOff x="-400509" y="-1458592"/>
            <a:chExt cx="2348821" cy="1991388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10AD688-DB8B-7BAC-D09C-C7F779E26FD1}"/>
                </a:ext>
              </a:extLst>
            </p:cNvPr>
            <p:cNvSpPr/>
            <p:nvPr/>
          </p:nvSpPr>
          <p:spPr>
            <a:xfrm>
              <a:off x="4465" y="214503"/>
              <a:ext cx="1380598" cy="318293"/>
            </a:xfrm>
            <a:custGeom>
              <a:avLst/>
              <a:gdLst/>
              <a:ahLst/>
              <a:cxnLst/>
              <a:rect l="l" t="t" r="r" b="b"/>
              <a:pathLst>
                <a:path w="1380598" h="318293">
                  <a:moveTo>
                    <a:pt x="28061" y="0"/>
                  </a:moveTo>
                  <a:lnTo>
                    <a:pt x="1352536" y="0"/>
                  </a:lnTo>
                  <a:cubicBezTo>
                    <a:pt x="1359979" y="0"/>
                    <a:pt x="1367116" y="2956"/>
                    <a:pt x="1372379" y="8219"/>
                  </a:cubicBezTo>
                  <a:cubicBezTo>
                    <a:pt x="1377641" y="13482"/>
                    <a:pt x="1380598" y="20619"/>
                    <a:pt x="1380598" y="28061"/>
                  </a:cubicBezTo>
                  <a:lnTo>
                    <a:pt x="1380598" y="290232"/>
                  </a:lnTo>
                  <a:cubicBezTo>
                    <a:pt x="1380598" y="297674"/>
                    <a:pt x="1377641" y="304812"/>
                    <a:pt x="1372379" y="310074"/>
                  </a:cubicBezTo>
                  <a:cubicBezTo>
                    <a:pt x="1367116" y="315337"/>
                    <a:pt x="1359979" y="318293"/>
                    <a:pt x="1352536" y="318293"/>
                  </a:cubicBezTo>
                  <a:lnTo>
                    <a:pt x="28061" y="318293"/>
                  </a:lnTo>
                  <a:cubicBezTo>
                    <a:pt x="20619" y="318293"/>
                    <a:pt x="13482" y="315337"/>
                    <a:pt x="8219" y="310074"/>
                  </a:cubicBezTo>
                  <a:cubicBezTo>
                    <a:pt x="2956" y="304812"/>
                    <a:pt x="0" y="297674"/>
                    <a:pt x="0" y="290232"/>
                  </a:cubicBezTo>
                  <a:lnTo>
                    <a:pt x="0" y="28061"/>
                  </a:lnTo>
                  <a:cubicBezTo>
                    <a:pt x="0" y="20619"/>
                    <a:pt x="2956" y="13482"/>
                    <a:pt x="8219" y="8219"/>
                  </a:cubicBezTo>
                  <a:cubicBezTo>
                    <a:pt x="13482" y="2956"/>
                    <a:pt x="20619" y="0"/>
                    <a:pt x="28061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53F03A5-C808-5368-B03C-0AD20B8E0AE5}"/>
                </a:ext>
              </a:extLst>
            </p:cNvPr>
            <p:cNvSpPr txBox="1"/>
            <p:nvPr/>
          </p:nvSpPr>
          <p:spPr>
            <a:xfrm>
              <a:off x="-400509" y="-1458592"/>
              <a:ext cx="2348821" cy="756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r>
                <a:rPr lang="en-US" sz="3600" b="1" dirty="0"/>
                <a:t>📊 Graph 1: Inventory Gap Over </a:t>
              </a:r>
              <a:r>
                <a:rPr lang="en-US" sz="3600" b="1" dirty="0" err="1"/>
                <a:t>Time</a:t>
              </a:r>
              <a:r>
                <a:rPr lang="en-US" sz="3299" b="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</a:t>
              </a:r>
              <a:endParaRPr lang="en-US" sz="3299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C20C29BD-763D-D415-23E5-27C32AE6AD91}"/>
              </a:ext>
            </a:extLst>
          </p:cNvPr>
          <p:cNvSpPr txBox="1"/>
          <p:nvPr/>
        </p:nvSpPr>
        <p:spPr>
          <a:xfrm>
            <a:off x="3502430" y="847981"/>
            <a:ext cx="10468285" cy="890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7200" dirty="0"/>
              <a:t>📦 </a:t>
            </a:r>
            <a:r>
              <a:rPr lang="en-US" sz="7200" b="1" dirty="0"/>
              <a:t>INVENTORY GAP</a:t>
            </a:r>
            <a:endParaRPr lang="en-US" sz="68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2596661-822A-8608-A9EB-E06D21665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401" y="2764596"/>
            <a:ext cx="7373671" cy="4041741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3BD5B6-2F39-051B-4A14-A2BAE48A9E57}"/>
              </a:ext>
            </a:extLst>
          </p:cNvPr>
          <p:cNvSpPr txBox="1"/>
          <p:nvPr/>
        </p:nvSpPr>
        <p:spPr>
          <a:xfrm>
            <a:off x="6730066" y="8048305"/>
            <a:ext cx="54513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                       🧊</a:t>
            </a:r>
          </a:p>
          <a:p>
            <a:r>
              <a:rPr lang="en-US" sz="2800" dirty="0"/>
              <a:t>          </a:t>
            </a:r>
            <a:r>
              <a:rPr lang="en-US" sz="2800" b="1" dirty="0">
                <a:solidFill>
                  <a:schemeClr val="bg1"/>
                </a:solidFill>
              </a:rPr>
              <a:t>South worst hit </a:t>
            </a:r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4EBFDD58-AD68-C778-B32A-7DA566C966CF}"/>
              </a:ext>
            </a:extLst>
          </p:cNvPr>
          <p:cNvSpPr/>
          <p:nvPr/>
        </p:nvSpPr>
        <p:spPr>
          <a:xfrm>
            <a:off x="12181459" y="7921097"/>
            <a:ext cx="5092416" cy="1208521"/>
          </a:xfrm>
          <a:custGeom>
            <a:avLst/>
            <a:gdLst/>
            <a:ahLst/>
            <a:cxnLst/>
            <a:rect l="l" t="t" r="r" b="b"/>
            <a:pathLst>
              <a:path w="1380598" h="318293">
                <a:moveTo>
                  <a:pt x="28061" y="0"/>
                </a:moveTo>
                <a:lnTo>
                  <a:pt x="1352536" y="0"/>
                </a:lnTo>
                <a:cubicBezTo>
                  <a:pt x="1359979" y="0"/>
                  <a:pt x="1367116" y="2956"/>
                  <a:pt x="1372379" y="8219"/>
                </a:cubicBezTo>
                <a:cubicBezTo>
                  <a:pt x="1377641" y="13482"/>
                  <a:pt x="1380598" y="20619"/>
                  <a:pt x="1380598" y="28061"/>
                </a:cubicBezTo>
                <a:lnTo>
                  <a:pt x="1380598" y="290232"/>
                </a:lnTo>
                <a:cubicBezTo>
                  <a:pt x="1380598" y="297674"/>
                  <a:pt x="1377641" y="304812"/>
                  <a:pt x="1372379" y="310074"/>
                </a:cubicBezTo>
                <a:cubicBezTo>
                  <a:pt x="1367116" y="315337"/>
                  <a:pt x="1359979" y="318293"/>
                  <a:pt x="1352536" y="318293"/>
                </a:cubicBezTo>
                <a:lnTo>
                  <a:pt x="28061" y="318293"/>
                </a:lnTo>
                <a:cubicBezTo>
                  <a:pt x="20619" y="318293"/>
                  <a:pt x="13482" y="315337"/>
                  <a:pt x="8219" y="310074"/>
                </a:cubicBezTo>
                <a:cubicBezTo>
                  <a:pt x="2956" y="304812"/>
                  <a:pt x="0" y="297674"/>
                  <a:pt x="0" y="290232"/>
                </a:cubicBezTo>
                <a:lnTo>
                  <a:pt x="0" y="28061"/>
                </a:lnTo>
                <a:cubicBezTo>
                  <a:pt x="0" y="20619"/>
                  <a:pt x="2956" y="13482"/>
                  <a:pt x="8219" y="8219"/>
                </a:cubicBezTo>
                <a:cubicBezTo>
                  <a:pt x="13482" y="2956"/>
                  <a:pt x="20619" y="0"/>
                  <a:pt x="28061" y="0"/>
                </a:cubicBezTo>
                <a:close/>
              </a:path>
            </a:pathLst>
          </a:custGeom>
          <a:solidFill>
            <a:srgbClr val="8D0000"/>
          </a:solidFill>
        </p:spPr>
        <p:txBody>
          <a:bodyPr/>
          <a:lstStyle/>
          <a:p>
            <a:r>
              <a:rPr lang="en-US" sz="2800" dirty="0"/>
              <a:t>                            ⚠️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               Risk of stockouts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7EF892-DBAF-2194-0688-BB4E0741A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401" y="2564834"/>
            <a:ext cx="7622683" cy="41782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A9AA8A0-EC4A-0957-356F-6A83876629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087" y="2492315"/>
            <a:ext cx="8918179" cy="48883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98260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44471-2D82-E2B3-C5E8-2EDE30425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F04AD2E-81E5-78C3-9682-83852813E7D1}"/>
              </a:ext>
            </a:extLst>
          </p:cNvPr>
          <p:cNvGrpSpPr/>
          <p:nvPr/>
        </p:nvGrpSpPr>
        <p:grpSpPr>
          <a:xfrm>
            <a:off x="12225496" y="2939178"/>
            <a:ext cx="5716207" cy="4826649"/>
            <a:chOff x="0" y="0"/>
            <a:chExt cx="1505503" cy="12712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685B1EF-AC03-A1C3-5D7B-5D4AFAA33B31}"/>
                </a:ext>
              </a:extLst>
            </p:cNvPr>
            <p:cNvSpPr/>
            <p:nvPr/>
          </p:nvSpPr>
          <p:spPr>
            <a:xfrm>
              <a:off x="0" y="0"/>
              <a:ext cx="1505503" cy="1271216"/>
            </a:xfrm>
            <a:custGeom>
              <a:avLst/>
              <a:gdLst/>
              <a:ahLst/>
              <a:cxnLst/>
              <a:rect l="l" t="t" r="r" b="b"/>
              <a:pathLst>
                <a:path w="1505503" h="1271216">
                  <a:moveTo>
                    <a:pt x="25733" y="0"/>
                  </a:moveTo>
                  <a:lnTo>
                    <a:pt x="1479770" y="0"/>
                  </a:lnTo>
                  <a:cubicBezTo>
                    <a:pt x="1493982" y="0"/>
                    <a:pt x="1505503" y="11521"/>
                    <a:pt x="1505503" y="25733"/>
                  </a:cubicBezTo>
                  <a:lnTo>
                    <a:pt x="1505503" y="1245483"/>
                  </a:lnTo>
                  <a:cubicBezTo>
                    <a:pt x="1505503" y="1259695"/>
                    <a:pt x="1493982" y="1271216"/>
                    <a:pt x="1479770" y="1271216"/>
                  </a:cubicBezTo>
                  <a:lnTo>
                    <a:pt x="25733" y="1271216"/>
                  </a:lnTo>
                  <a:cubicBezTo>
                    <a:pt x="11521" y="1271216"/>
                    <a:pt x="0" y="1259695"/>
                    <a:pt x="0" y="1245483"/>
                  </a:cubicBezTo>
                  <a:lnTo>
                    <a:pt x="0" y="25733"/>
                  </a:lnTo>
                  <a:cubicBezTo>
                    <a:pt x="0" y="11521"/>
                    <a:pt x="11521" y="0"/>
                    <a:pt x="25733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6AD213B-9B24-5DA6-D378-1FA1AA9996A0}"/>
                </a:ext>
              </a:extLst>
            </p:cNvPr>
            <p:cNvSpPr txBox="1"/>
            <p:nvPr/>
          </p:nvSpPr>
          <p:spPr>
            <a:xfrm>
              <a:off x="0" y="-390525"/>
              <a:ext cx="1505503" cy="1661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47697" lvl="1" indent="-323848" algn="just">
                <a:lnSpc>
                  <a:spcPts val="7499"/>
                </a:lnSpc>
                <a:buFont typeface="Arial"/>
                <a:buChar char="•"/>
              </a:pPr>
              <a:endParaRPr lang="en-US" sz="2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28CA5A79-9FD8-BB4C-6113-DC181E8C0F62}"/>
              </a:ext>
            </a:extLst>
          </p:cNvPr>
          <p:cNvSpPr/>
          <p:nvPr/>
        </p:nvSpPr>
        <p:spPr>
          <a:xfrm>
            <a:off x="295962" y="2390667"/>
            <a:ext cx="11476559" cy="5923672"/>
          </a:xfrm>
          <a:custGeom>
            <a:avLst/>
            <a:gdLst/>
            <a:ahLst/>
            <a:cxnLst/>
            <a:rect l="l" t="t" r="r" b="b"/>
            <a:pathLst>
              <a:path w="11476559" h="5923672">
                <a:moveTo>
                  <a:pt x="0" y="0"/>
                </a:moveTo>
                <a:lnTo>
                  <a:pt x="11476559" y="0"/>
                </a:lnTo>
                <a:lnTo>
                  <a:pt x="11476559" y="5923672"/>
                </a:lnTo>
                <a:lnTo>
                  <a:pt x="0" y="59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3" r="-603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A6ED29-2781-0A42-9E44-C0C42B081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62" y="2390667"/>
            <a:ext cx="11476558" cy="60294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94493B-CC24-5D78-F8FA-692ADD1A7B5B}"/>
              </a:ext>
            </a:extLst>
          </p:cNvPr>
          <p:cNvSpPr txBox="1"/>
          <p:nvPr/>
        </p:nvSpPr>
        <p:spPr>
          <a:xfrm>
            <a:off x="11678881" y="1972661"/>
            <a:ext cx="656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📊 Graph : Avg Inventory Gap by season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6DE38E-3894-B51F-6313-A6EF57F28B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43" y="2383047"/>
            <a:ext cx="11443878" cy="62656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D91D69-79A3-0AB1-A65F-A3CC904CEA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09" y="2383047"/>
            <a:ext cx="11376412" cy="622871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C936AB0-9542-1C34-7507-508FA38F0A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100" y="2438236"/>
            <a:ext cx="10803886" cy="59152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8109D9-2825-170F-34DB-F38B070AF1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97" y="2491064"/>
            <a:ext cx="11347824" cy="6220099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A52A59EB-7442-F196-EB54-D6C4591FA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29789" y="3253715"/>
            <a:ext cx="51816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❄️ Fall/Winter = worst for South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🚚 Regional shortage persists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🧰 Needs seasonal stock prep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0794B0-ADC8-7D4D-AE18-9B129A8DC8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2" y="2390667"/>
            <a:ext cx="11987721" cy="65634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377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EEA58-0368-8752-B6EF-B82FB3EE6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6006308-A0B3-DD15-B073-792E44DB5FB1}"/>
              </a:ext>
            </a:extLst>
          </p:cNvPr>
          <p:cNvGrpSpPr/>
          <p:nvPr/>
        </p:nvGrpSpPr>
        <p:grpSpPr>
          <a:xfrm>
            <a:off x="-796411" y="1360532"/>
            <a:ext cx="1592821" cy="7565937"/>
            <a:chOff x="0" y="0"/>
            <a:chExt cx="419508" cy="199267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A24D43E-0579-DDB2-5CBD-6D5CF936A9C8}"/>
                </a:ext>
              </a:extLst>
            </p:cNvPr>
            <p:cNvSpPr/>
            <p:nvPr/>
          </p:nvSpPr>
          <p:spPr>
            <a:xfrm>
              <a:off x="0" y="0"/>
              <a:ext cx="419508" cy="1992675"/>
            </a:xfrm>
            <a:custGeom>
              <a:avLst/>
              <a:gdLst/>
              <a:ahLst/>
              <a:cxnLst/>
              <a:rect l="l" t="t" r="r" b="b"/>
              <a:pathLst>
                <a:path w="419508" h="1992675">
                  <a:moveTo>
                    <a:pt x="209754" y="0"/>
                  </a:moveTo>
                  <a:lnTo>
                    <a:pt x="209754" y="0"/>
                  </a:lnTo>
                  <a:cubicBezTo>
                    <a:pt x="325598" y="0"/>
                    <a:pt x="419508" y="93910"/>
                    <a:pt x="419508" y="209754"/>
                  </a:cubicBezTo>
                  <a:lnTo>
                    <a:pt x="419508" y="1782920"/>
                  </a:lnTo>
                  <a:cubicBezTo>
                    <a:pt x="419508" y="1898765"/>
                    <a:pt x="325598" y="1992675"/>
                    <a:pt x="209754" y="1992675"/>
                  </a:cubicBezTo>
                  <a:lnTo>
                    <a:pt x="209754" y="1992675"/>
                  </a:lnTo>
                  <a:cubicBezTo>
                    <a:pt x="93910" y="1992675"/>
                    <a:pt x="0" y="1898765"/>
                    <a:pt x="0" y="1782920"/>
                  </a:cubicBezTo>
                  <a:lnTo>
                    <a:pt x="0" y="209754"/>
                  </a:lnTo>
                  <a:cubicBezTo>
                    <a:pt x="0" y="93910"/>
                    <a:pt x="93910" y="0"/>
                    <a:pt x="209754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228EE0A-ECD2-5130-DE48-716EC9A764D5}"/>
                </a:ext>
              </a:extLst>
            </p:cNvPr>
            <p:cNvSpPr txBox="1"/>
            <p:nvPr/>
          </p:nvSpPr>
          <p:spPr>
            <a:xfrm>
              <a:off x="0" y="-333375"/>
              <a:ext cx="419508" cy="2326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3B6BA8A-DE61-5597-6A7A-B0FE6DF1F8C4}"/>
              </a:ext>
            </a:extLst>
          </p:cNvPr>
          <p:cNvGrpSpPr/>
          <p:nvPr/>
        </p:nvGrpSpPr>
        <p:grpSpPr>
          <a:xfrm>
            <a:off x="17524247" y="994717"/>
            <a:ext cx="1592821" cy="7565937"/>
            <a:chOff x="0" y="0"/>
            <a:chExt cx="419508" cy="199267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FB44A1D-FE68-30E1-E445-94A1FB62F68E}"/>
                </a:ext>
              </a:extLst>
            </p:cNvPr>
            <p:cNvSpPr/>
            <p:nvPr/>
          </p:nvSpPr>
          <p:spPr>
            <a:xfrm>
              <a:off x="0" y="0"/>
              <a:ext cx="419508" cy="1992675"/>
            </a:xfrm>
            <a:custGeom>
              <a:avLst/>
              <a:gdLst/>
              <a:ahLst/>
              <a:cxnLst/>
              <a:rect l="l" t="t" r="r" b="b"/>
              <a:pathLst>
                <a:path w="419508" h="1992675">
                  <a:moveTo>
                    <a:pt x="209754" y="0"/>
                  </a:moveTo>
                  <a:lnTo>
                    <a:pt x="209754" y="0"/>
                  </a:lnTo>
                  <a:cubicBezTo>
                    <a:pt x="325598" y="0"/>
                    <a:pt x="419508" y="93910"/>
                    <a:pt x="419508" y="209754"/>
                  </a:cubicBezTo>
                  <a:lnTo>
                    <a:pt x="419508" y="1782920"/>
                  </a:lnTo>
                  <a:cubicBezTo>
                    <a:pt x="419508" y="1898765"/>
                    <a:pt x="325598" y="1992675"/>
                    <a:pt x="209754" y="1992675"/>
                  </a:cubicBezTo>
                  <a:lnTo>
                    <a:pt x="209754" y="1992675"/>
                  </a:lnTo>
                  <a:cubicBezTo>
                    <a:pt x="93910" y="1992675"/>
                    <a:pt x="0" y="1898765"/>
                    <a:pt x="0" y="1782920"/>
                  </a:cubicBezTo>
                  <a:lnTo>
                    <a:pt x="0" y="209754"/>
                  </a:lnTo>
                  <a:cubicBezTo>
                    <a:pt x="0" y="93910"/>
                    <a:pt x="93910" y="0"/>
                    <a:pt x="209754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17F9067-66F4-E2E2-4251-9960C6E5C4E1}"/>
                </a:ext>
              </a:extLst>
            </p:cNvPr>
            <p:cNvSpPr txBox="1"/>
            <p:nvPr/>
          </p:nvSpPr>
          <p:spPr>
            <a:xfrm>
              <a:off x="0" y="-333375"/>
              <a:ext cx="419508" cy="2326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E974E218-5B9B-CD53-0F8D-FEAE3C897131}"/>
              </a:ext>
            </a:extLst>
          </p:cNvPr>
          <p:cNvSpPr/>
          <p:nvPr/>
        </p:nvSpPr>
        <p:spPr>
          <a:xfrm>
            <a:off x="4407776" y="1865533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E4A3166-0992-751A-85BB-A46419F3A205}"/>
              </a:ext>
            </a:extLst>
          </p:cNvPr>
          <p:cNvGrpSpPr/>
          <p:nvPr/>
        </p:nvGrpSpPr>
        <p:grpSpPr>
          <a:xfrm>
            <a:off x="952434" y="7171470"/>
            <a:ext cx="5352992" cy="2872125"/>
            <a:chOff x="-29244" y="-278763"/>
            <a:chExt cx="1409842" cy="75644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326E0DB-67E3-B67F-C215-778AEA90A38C}"/>
                </a:ext>
              </a:extLst>
            </p:cNvPr>
            <p:cNvSpPr/>
            <p:nvPr/>
          </p:nvSpPr>
          <p:spPr>
            <a:xfrm>
              <a:off x="-29244" y="-2003"/>
              <a:ext cx="1407560" cy="305313"/>
            </a:xfrm>
            <a:custGeom>
              <a:avLst/>
              <a:gdLst/>
              <a:ahLst/>
              <a:cxnLst/>
              <a:rect l="l" t="t" r="r" b="b"/>
              <a:pathLst>
                <a:path w="1380598" h="318293">
                  <a:moveTo>
                    <a:pt x="28061" y="0"/>
                  </a:moveTo>
                  <a:lnTo>
                    <a:pt x="1352536" y="0"/>
                  </a:lnTo>
                  <a:cubicBezTo>
                    <a:pt x="1359979" y="0"/>
                    <a:pt x="1367116" y="2956"/>
                    <a:pt x="1372379" y="8219"/>
                  </a:cubicBezTo>
                  <a:cubicBezTo>
                    <a:pt x="1377641" y="13482"/>
                    <a:pt x="1380598" y="20619"/>
                    <a:pt x="1380598" y="28061"/>
                  </a:cubicBezTo>
                  <a:lnTo>
                    <a:pt x="1380598" y="290232"/>
                  </a:lnTo>
                  <a:cubicBezTo>
                    <a:pt x="1380598" y="297674"/>
                    <a:pt x="1377641" y="304812"/>
                    <a:pt x="1372379" y="310074"/>
                  </a:cubicBezTo>
                  <a:cubicBezTo>
                    <a:pt x="1367116" y="315337"/>
                    <a:pt x="1359979" y="318293"/>
                    <a:pt x="1352536" y="318293"/>
                  </a:cubicBezTo>
                  <a:lnTo>
                    <a:pt x="28061" y="318293"/>
                  </a:lnTo>
                  <a:cubicBezTo>
                    <a:pt x="20619" y="318293"/>
                    <a:pt x="13482" y="315337"/>
                    <a:pt x="8219" y="310074"/>
                  </a:cubicBezTo>
                  <a:cubicBezTo>
                    <a:pt x="2956" y="304812"/>
                    <a:pt x="0" y="297674"/>
                    <a:pt x="0" y="290232"/>
                  </a:cubicBezTo>
                  <a:lnTo>
                    <a:pt x="0" y="28061"/>
                  </a:lnTo>
                  <a:cubicBezTo>
                    <a:pt x="0" y="20619"/>
                    <a:pt x="2956" y="13482"/>
                    <a:pt x="8219" y="8219"/>
                  </a:cubicBezTo>
                  <a:cubicBezTo>
                    <a:pt x="13482" y="2956"/>
                    <a:pt x="20619" y="0"/>
                    <a:pt x="28061" y="0"/>
                  </a:cubicBezTo>
                  <a:close/>
                </a:path>
              </a:pathLst>
            </a:custGeom>
            <a:solidFill>
              <a:srgbClr val="8D0000"/>
            </a:solidFill>
          </p:spPr>
          <p:txBody>
            <a:bodyPr/>
            <a:lstStyle/>
            <a:p>
              <a:r>
                <a:rPr lang="en-US" sz="2800" dirty="0"/>
                <a:t>                              🧭</a:t>
              </a:r>
            </a:p>
            <a:p>
              <a:r>
                <a:rPr lang="en-US" sz="2800" dirty="0"/>
                <a:t> </a:t>
              </a:r>
              <a:r>
                <a:rPr lang="en-US" sz="2800" b="1" dirty="0">
                  <a:solidFill>
                    <a:schemeClr val="bg1"/>
                  </a:solidFill>
                </a:rPr>
                <a:t>Sales gaps vary heavily by region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6122EEC-69E9-9E90-303F-C3F39B29FCD0}"/>
                </a:ext>
              </a:extLst>
            </p:cNvPr>
            <p:cNvSpPr txBox="1"/>
            <p:nvPr/>
          </p:nvSpPr>
          <p:spPr>
            <a:xfrm>
              <a:off x="0" y="-278763"/>
              <a:ext cx="1380598" cy="756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endParaRPr lang="en-US" sz="32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0D5E9200-47D5-5E7D-EE58-715EE4BAA095}"/>
              </a:ext>
            </a:extLst>
          </p:cNvPr>
          <p:cNvGrpSpPr/>
          <p:nvPr/>
        </p:nvGrpSpPr>
        <p:grpSpPr>
          <a:xfrm>
            <a:off x="3733800" y="-424500"/>
            <a:ext cx="9905998" cy="9806035"/>
            <a:chOff x="-775451" y="-1704424"/>
            <a:chExt cx="2621337" cy="2438397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8B05737-E43B-D91F-A372-D3B5CEC6AF23}"/>
                </a:ext>
              </a:extLst>
            </p:cNvPr>
            <p:cNvSpPr/>
            <p:nvPr/>
          </p:nvSpPr>
          <p:spPr>
            <a:xfrm>
              <a:off x="4505" y="415680"/>
              <a:ext cx="1380598" cy="318293"/>
            </a:xfrm>
            <a:custGeom>
              <a:avLst/>
              <a:gdLst/>
              <a:ahLst/>
              <a:cxnLst/>
              <a:rect l="l" t="t" r="r" b="b"/>
              <a:pathLst>
                <a:path w="1380598" h="318293">
                  <a:moveTo>
                    <a:pt x="28061" y="0"/>
                  </a:moveTo>
                  <a:lnTo>
                    <a:pt x="1352536" y="0"/>
                  </a:lnTo>
                  <a:cubicBezTo>
                    <a:pt x="1359979" y="0"/>
                    <a:pt x="1367116" y="2956"/>
                    <a:pt x="1372379" y="8219"/>
                  </a:cubicBezTo>
                  <a:cubicBezTo>
                    <a:pt x="1377641" y="13482"/>
                    <a:pt x="1380598" y="20619"/>
                    <a:pt x="1380598" y="28061"/>
                  </a:cubicBezTo>
                  <a:lnTo>
                    <a:pt x="1380598" y="290232"/>
                  </a:lnTo>
                  <a:cubicBezTo>
                    <a:pt x="1380598" y="297674"/>
                    <a:pt x="1377641" y="304812"/>
                    <a:pt x="1372379" y="310074"/>
                  </a:cubicBezTo>
                  <a:cubicBezTo>
                    <a:pt x="1367116" y="315337"/>
                    <a:pt x="1359979" y="318293"/>
                    <a:pt x="1352536" y="318293"/>
                  </a:cubicBezTo>
                  <a:lnTo>
                    <a:pt x="28061" y="318293"/>
                  </a:lnTo>
                  <a:cubicBezTo>
                    <a:pt x="20619" y="318293"/>
                    <a:pt x="13482" y="315337"/>
                    <a:pt x="8219" y="310074"/>
                  </a:cubicBezTo>
                  <a:cubicBezTo>
                    <a:pt x="2956" y="304812"/>
                    <a:pt x="0" y="297674"/>
                    <a:pt x="0" y="290232"/>
                  </a:cubicBezTo>
                  <a:lnTo>
                    <a:pt x="0" y="28061"/>
                  </a:lnTo>
                  <a:cubicBezTo>
                    <a:pt x="0" y="20619"/>
                    <a:pt x="2956" y="13482"/>
                    <a:pt x="8219" y="8219"/>
                  </a:cubicBezTo>
                  <a:cubicBezTo>
                    <a:pt x="13482" y="2956"/>
                    <a:pt x="20619" y="0"/>
                    <a:pt x="28061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748BDE68-25AA-9BC0-625A-D410D3AB5699}"/>
                </a:ext>
              </a:extLst>
            </p:cNvPr>
            <p:cNvSpPr txBox="1"/>
            <p:nvPr/>
          </p:nvSpPr>
          <p:spPr>
            <a:xfrm>
              <a:off x="-775451" y="-1704424"/>
              <a:ext cx="2621337" cy="725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r>
                <a:rPr lang="en-US" sz="6000" b="1" dirty="0"/>
                <a:t>💰 SALES FULFILLMENT GAP</a:t>
              </a:r>
              <a:endParaRPr lang="en-US" sz="6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7B715EB3-2834-9F63-1AEE-7C0F0EC42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401" y="2764596"/>
            <a:ext cx="7373671" cy="4041741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12CE0E1-ED5B-6975-1221-BFA311B770F4}"/>
              </a:ext>
            </a:extLst>
          </p:cNvPr>
          <p:cNvSpPr txBox="1"/>
          <p:nvPr/>
        </p:nvSpPr>
        <p:spPr>
          <a:xfrm>
            <a:off x="6640846" y="8222295"/>
            <a:ext cx="54513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                        🙍 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         Customer service risk</a:t>
            </a:r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A005B914-9984-C17F-1F41-45216B003428}"/>
              </a:ext>
            </a:extLst>
          </p:cNvPr>
          <p:cNvSpPr/>
          <p:nvPr/>
        </p:nvSpPr>
        <p:spPr>
          <a:xfrm>
            <a:off x="12117232" y="8101517"/>
            <a:ext cx="5382022" cy="1208521"/>
          </a:xfrm>
          <a:custGeom>
            <a:avLst/>
            <a:gdLst/>
            <a:ahLst/>
            <a:cxnLst/>
            <a:rect l="l" t="t" r="r" b="b"/>
            <a:pathLst>
              <a:path w="1380598" h="318293">
                <a:moveTo>
                  <a:pt x="28061" y="0"/>
                </a:moveTo>
                <a:lnTo>
                  <a:pt x="1352536" y="0"/>
                </a:lnTo>
                <a:cubicBezTo>
                  <a:pt x="1359979" y="0"/>
                  <a:pt x="1367116" y="2956"/>
                  <a:pt x="1372379" y="8219"/>
                </a:cubicBezTo>
                <a:cubicBezTo>
                  <a:pt x="1377641" y="13482"/>
                  <a:pt x="1380598" y="20619"/>
                  <a:pt x="1380598" y="28061"/>
                </a:cubicBezTo>
                <a:lnTo>
                  <a:pt x="1380598" y="290232"/>
                </a:lnTo>
                <a:cubicBezTo>
                  <a:pt x="1380598" y="297674"/>
                  <a:pt x="1377641" y="304812"/>
                  <a:pt x="1372379" y="310074"/>
                </a:cubicBezTo>
                <a:cubicBezTo>
                  <a:pt x="1367116" y="315337"/>
                  <a:pt x="1359979" y="318293"/>
                  <a:pt x="1352536" y="318293"/>
                </a:cubicBezTo>
                <a:lnTo>
                  <a:pt x="28061" y="318293"/>
                </a:lnTo>
                <a:cubicBezTo>
                  <a:pt x="20619" y="318293"/>
                  <a:pt x="13482" y="315337"/>
                  <a:pt x="8219" y="310074"/>
                </a:cubicBezTo>
                <a:cubicBezTo>
                  <a:pt x="2956" y="304812"/>
                  <a:pt x="0" y="297674"/>
                  <a:pt x="0" y="290232"/>
                </a:cubicBezTo>
                <a:lnTo>
                  <a:pt x="0" y="28061"/>
                </a:lnTo>
                <a:cubicBezTo>
                  <a:pt x="0" y="20619"/>
                  <a:pt x="2956" y="13482"/>
                  <a:pt x="8219" y="8219"/>
                </a:cubicBezTo>
                <a:cubicBezTo>
                  <a:pt x="13482" y="2956"/>
                  <a:pt x="20619" y="0"/>
                  <a:pt x="28061" y="0"/>
                </a:cubicBezTo>
                <a:close/>
              </a:path>
            </a:pathLst>
          </a:custGeom>
          <a:solidFill>
            <a:srgbClr val="8D0000"/>
          </a:solidFill>
        </p:spPr>
        <p:txBody>
          <a:bodyPr/>
          <a:lstStyle/>
          <a:p>
            <a:r>
              <a:rPr lang="en-US" sz="2800" dirty="0"/>
              <a:t>                           🔄 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Needs consistent supply alignment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6292C9-14F2-A57E-BB2A-41BDE469E7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401" y="2564834"/>
            <a:ext cx="7622683" cy="41782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75D7D5-F01E-9B49-F1E5-0C39CC671E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764" y="2564834"/>
            <a:ext cx="8083312" cy="442570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293103D-51D3-1CC5-BEE6-0370DD7D13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273" y="2441097"/>
            <a:ext cx="8918179" cy="48883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29360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29CFF-9CC6-A8E9-1549-9D4E82D11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30B1D41F-383F-3F4B-3AEF-38CC4108B699}"/>
              </a:ext>
            </a:extLst>
          </p:cNvPr>
          <p:cNvSpPr txBox="1"/>
          <p:nvPr/>
        </p:nvSpPr>
        <p:spPr>
          <a:xfrm>
            <a:off x="3919150" y="-139602"/>
            <a:ext cx="12540050" cy="221163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8249"/>
              </a:lnSpc>
            </a:pPr>
            <a:r>
              <a:rPr lang="en-US" sz="3600" b="1" dirty="0"/>
              <a:t>📊 Avg Fulfillment Gap by Season</a:t>
            </a:r>
            <a:r>
              <a:rPr lang="en-US" sz="32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6 months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E212C90E-E5EB-3C36-7C84-1A8BBBBB1AE5}"/>
              </a:ext>
            </a:extLst>
          </p:cNvPr>
          <p:cNvGrpSpPr/>
          <p:nvPr/>
        </p:nvGrpSpPr>
        <p:grpSpPr>
          <a:xfrm>
            <a:off x="3919150" y="5676900"/>
            <a:ext cx="12165777" cy="4108453"/>
            <a:chOff x="0" y="-438150"/>
            <a:chExt cx="4018380" cy="1293454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B58D4D6-5D15-512D-E939-BA37DE1D7003}"/>
                </a:ext>
              </a:extLst>
            </p:cNvPr>
            <p:cNvSpPr/>
            <p:nvPr/>
          </p:nvSpPr>
          <p:spPr>
            <a:xfrm>
              <a:off x="226521" y="44738"/>
              <a:ext cx="3791859" cy="810566"/>
            </a:xfrm>
            <a:custGeom>
              <a:avLst/>
              <a:gdLst/>
              <a:ahLst/>
              <a:cxnLst/>
              <a:rect l="l" t="t" r="r" b="b"/>
              <a:pathLst>
                <a:path w="3791859" h="810566">
                  <a:moveTo>
                    <a:pt x="10217" y="0"/>
                  </a:moveTo>
                  <a:lnTo>
                    <a:pt x="3781642" y="0"/>
                  </a:lnTo>
                  <a:cubicBezTo>
                    <a:pt x="3787285" y="0"/>
                    <a:pt x="3791859" y="4574"/>
                    <a:pt x="3791859" y="10217"/>
                  </a:cubicBezTo>
                  <a:lnTo>
                    <a:pt x="3791859" y="800349"/>
                  </a:lnTo>
                  <a:cubicBezTo>
                    <a:pt x="3791859" y="805992"/>
                    <a:pt x="3787285" y="810566"/>
                    <a:pt x="3781642" y="810566"/>
                  </a:cubicBezTo>
                  <a:lnTo>
                    <a:pt x="10217" y="810566"/>
                  </a:lnTo>
                  <a:cubicBezTo>
                    <a:pt x="4574" y="810566"/>
                    <a:pt x="0" y="805992"/>
                    <a:pt x="0" y="800349"/>
                  </a:cubicBezTo>
                  <a:lnTo>
                    <a:pt x="0" y="10217"/>
                  </a:lnTo>
                  <a:cubicBezTo>
                    <a:pt x="0" y="4574"/>
                    <a:pt x="4574" y="0"/>
                    <a:pt x="10217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70D054C5-1FB2-3E43-3241-7F00EA732141}"/>
                </a:ext>
              </a:extLst>
            </p:cNvPr>
            <p:cNvSpPr txBox="1"/>
            <p:nvPr/>
          </p:nvSpPr>
          <p:spPr>
            <a:xfrm>
              <a:off x="0" y="-438150"/>
              <a:ext cx="3791859" cy="1248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endParaRPr lang="en-US" sz="32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014758-8A05-FBE0-6D75-29FE14B44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268" y="2072035"/>
            <a:ext cx="9107178" cy="49862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EF5575B-D513-643A-BE02-B6724BC25F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072035"/>
            <a:ext cx="9372600" cy="46297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464385-CD98-DAB5-9DB6-B878DE5901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539" y="2072035"/>
            <a:ext cx="9329861" cy="51082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E250D2-5521-AD80-BDFD-E0D5A61B50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863" y="1950113"/>
            <a:ext cx="9863314" cy="51082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140DE7C-AF7F-14E3-24CF-388755594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1280" y="7594102"/>
            <a:ext cx="7848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🍂 South = Fall shortage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🌸 East = Spring unfulfilled sales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❌ Inventory misaligned with season</a:t>
            </a:r>
          </a:p>
        </p:txBody>
      </p:sp>
    </p:spTree>
    <p:extLst>
      <p:ext uri="{BB962C8B-B14F-4D97-AF65-F5344CB8AC3E}">
        <p14:creationId xmlns:p14="http://schemas.microsoft.com/office/powerpoint/2010/main" val="2069765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72537" y="503899"/>
            <a:ext cx="1493226" cy="1493226"/>
          </a:xfrm>
          <a:custGeom>
            <a:avLst/>
            <a:gdLst/>
            <a:ahLst/>
            <a:cxnLst/>
            <a:rect l="l" t="t" r="r" b="b"/>
            <a:pathLst>
              <a:path w="1493226" h="1493226">
                <a:moveTo>
                  <a:pt x="0" y="0"/>
                </a:moveTo>
                <a:lnTo>
                  <a:pt x="1493226" y="0"/>
                </a:lnTo>
                <a:lnTo>
                  <a:pt x="1493226" y="1493225"/>
                </a:lnTo>
                <a:lnTo>
                  <a:pt x="0" y="1493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9095" y="2466890"/>
            <a:ext cx="2001066" cy="1498868"/>
          </a:xfrm>
          <a:custGeom>
            <a:avLst/>
            <a:gdLst/>
            <a:ahLst/>
            <a:cxnLst/>
            <a:rect l="l" t="t" r="r" b="b"/>
            <a:pathLst>
              <a:path w="2001066" h="1498868">
                <a:moveTo>
                  <a:pt x="0" y="0"/>
                </a:moveTo>
                <a:lnTo>
                  <a:pt x="2001066" y="0"/>
                </a:lnTo>
                <a:lnTo>
                  <a:pt x="2001066" y="1498868"/>
                </a:lnTo>
                <a:lnTo>
                  <a:pt x="0" y="1498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862086" y="2466890"/>
            <a:ext cx="14397214" cy="1443966"/>
            <a:chOff x="0" y="0"/>
            <a:chExt cx="3791859" cy="3803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91859" cy="380304"/>
            </a:xfrm>
            <a:custGeom>
              <a:avLst/>
              <a:gdLst/>
              <a:ahLst/>
              <a:cxnLst/>
              <a:rect l="l" t="t" r="r" b="b"/>
              <a:pathLst>
                <a:path w="3791859" h="380304">
                  <a:moveTo>
                    <a:pt x="10217" y="0"/>
                  </a:moveTo>
                  <a:lnTo>
                    <a:pt x="3781642" y="0"/>
                  </a:lnTo>
                  <a:cubicBezTo>
                    <a:pt x="3787285" y="0"/>
                    <a:pt x="3791859" y="4574"/>
                    <a:pt x="3791859" y="10217"/>
                  </a:cubicBezTo>
                  <a:lnTo>
                    <a:pt x="3791859" y="370087"/>
                  </a:lnTo>
                  <a:cubicBezTo>
                    <a:pt x="3791859" y="375730"/>
                    <a:pt x="3787285" y="380304"/>
                    <a:pt x="3781642" y="380304"/>
                  </a:cubicBezTo>
                  <a:lnTo>
                    <a:pt x="10217" y="380304"/>
                  </a:lnTo>
                  <a:cubicBezTo>
                    <a:pt x="4574" y="380304"/>
                    <a:pt x="0" y="375730"/>
                    <a:pt x="0" y="370087"/>
                  </a:cubicBezTo>
                  <a:lnTo>
                    <a:pt x="0" y="10217"/>
                  </a:lnTo>
                  <a:cubicBezTo>
                    <a:pt x="0" y="4574"/>
                    <a:pt x="4574" y="0"/>
                    <a:pt x="10217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38150"/>
              <a:ext cx="3791859" cy="818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endParaRPr lang="en-US" sz="32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ctr">
                <a:lnSpc>
                  <a:spcPts val="8249"/>
                </a:lnSpc>
              </a:pPr>
              <a:r>
                <a:rPr lang="en-US" sz="32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SARIMA Seasonal Autoregressive Integrated Moving Average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832484" y="4580911"/>
            <a:ext cx="1694288" cy="1694288"/>
          </a:xfrm>
          <a:custGeom>
            <a:avLst/>
            <a:gdLst/>
            <a:ahLst/>
            <a:cxnLst/>
            <a:rect l="l" t="t" r="r" b="b"/>
            <a:pathLst>
              <a:path w="1694288" h="1694288">
                <a:moveTo>
                  <a:pt x="0" y="0"/>
                </a:moveTo>
                <a:lnTo>
                  <a:pt x="1694288" y="0"/>
                </a:lnTo>
                <a:lnTo>
                  <a:pt x="1694288" y="1694288"/>
                </a:lnTo>
                <a:lnTo>
                  <a:pt x="0" y="1694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862086" y="4580911"/>
            <a:ext cx="14397214" cy="1332457"/>
            <a:chOff x="0" y="0"/>
            <a:chExt cx="3791859" cy="3509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91859" cy="350935"/>
            </a:xfrm>
            <a:custGeom>
              <a:avLst/>
              <a:gdLst/>
              <a:ahLst/>
              <a:cxnLst/>
              <a:rect l="l" t="t" r="r" b="b"/>
              <a:pathLst>
                <a:path w="3791859" h="350935">
                  <a:moveTo>
                    <a:pt x="10217" y="0"/>
                  </a:moveTo>
                  <a:lnTo>
                    <a:pt x="3781642" y="0"/>
                  </a:lnTo>
                  <a:cubicBezTo>
                    <a:pt x="3787285" y="0"/>
                    <a:pt x="3791859" y="4574"/>
                    <a:pt x="3791859" y="10217"/>
                  </a:cubicBezTo>
                  <a:lnTo>
                    <a:pt x="3791859" y="340718"/>
                  </a:lnTo>
                  <a:cubicBezTo>
                    <a:pt x="3791859" y="343428"/>
                    <a:pt x="3790783" y="346027"/>
                    <a:pt x="3788866" y="347943"/>
                  </a:cubicBezTo>
                  <a:cubicBezTo>
                    <a:pt x="3786950" y="349859"/>
                    <a:pt x="3784352" y="350935"/>
                    <a:pt x="3781642" y="350935"/>
                  </a:cubicBezTo>
                  <a:lnTo>
                    <a:pt x="10217" y="350935"/>
                  </a:lnTo>
                  <a:cubicBezTo>
                    <a:pt x="4574" y="350935"/>
                    <a:pt x="0" y="346361"/>
                    <a:pt x="0" y="340718"/>
                  </a:cubicBezTo>
                  <a:lnTo>
                    <a:pt x="0" y="10217"/>
                  </a:lnTo>
                  <a:cubicBezTo>
                    <a:pt x="0" y="4574"/>
                    <a:pt x="4574" y="0"/>
                    <a:pt x="10217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38150"/>
              <a:ext cx="3791859" cy="789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endParaRPr lang="en-US" sz="32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ctr">
                <a:lnSpc>
                  <a:spcPts val="8249"/>
                </a:lnSpc>
              </a:pPr>
              <a:r>
                <a:rPr lang="en-US" sz="32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Forecasting Horizon: Next 6 months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832484" y="7209382"/>
            <a:ext cx="1312322" cy="1312322"/>
          </a:xfrm>
          <a:custGeom>
            <a:avLst/>
            <a:gdLst/>
            <a:ahLst/>
            <a:cxnLst/>
            <a:rect l="l" t="t" r="r" b="b"/>
            <a:pathLst>
              <a:path w="1312322" h="1312322">
                <a:moveTo>
                  <a:pt x="0" y="0"/>
                </a:moveTo>
                <a:lnTo>
                  <a:pt x="1312322" y="0"/>
                </a:lnTo>
                <a:lnTo>
                  <a:pt x="1312322" y="1312322"/>
                </a:lnTo>
                <a:lnTo>
                  <a:pt x="0" y="13123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471517" y="554037"/>
            <a:ext cx="7344966" cy="85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8D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FORECASTING SOLUTIONS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862086" y="6580118"/>
            <a:ext cx="14397214" cy="3077618"/>
            <a:chOff x="0" y="0"/>
            <a:chExt cx="3791859" cy="81056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791859" cy="810566"/>
            </a:xfrm>
            <a:custGeom>
              <a:avLst/>
              <a:gdLst/>
              <a:ahLst/>
              <a:cxnLst/>
              <a:rect l="l" t="t" r="r" b="b"/>
              <a:pathLst>
                <a:path w="3791859" h="810566">
                  <a:moveTo>
                    <a:pt x="10217" y="0"/>
                  </a:moveTo>
                  <a:lnTo>
                    <a:pt x="3781642" y="0"/>
                  </a:lnTo>
                  <a:cubicBezTo>
                    <a:pt x="3787285" y="0"/>
                    <a:pt x="3791859" y="4574"/>
                    <a:pt x="3791859" y="10217"/>
                  </a:cubicBezTo>
                  <a:lnTo>
                    <a:pt x="3791859" y="800349"/>
                  </a:lnTo>
                  <a:cubicBezTo>
                    <a:pt x="3791859" y="805992"/>
                    <a:pt x="3787285" y="810566"/>
                    <a:pt x="3781642" y="810566"/>
                  </a:cubicBezTo>
                  <a:lnTo>
                    <a:pt x="10217" y="810566"/>
                  </a:lnTo>
                  <a:cubicBezTo>
                    <a:pt x="4574" y="810566"/>
                    <a:pt x="0" y="805992"/>
                    <a:pt x="0" y="800349"/>
                  </a:cubicBezTo>
                  <a:lnTo>
                    <a:pt x="0" y="10217"/>
                  </a:lnTo>
                  <a:cubicBezTo>
                    <a:pt x="0" y="4574"/>
                    <a:pt x="4574" y="0"/>
                    <a:pt x="10217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38150"/>
              <a:ext cx="3791859" cy="1248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r>
                <a:rPr lang="en-US" sz="32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Observed values</a:t>
              </a:r>
            </a:p>
            <a:p>
              <a:pPr algn="ctr">
                <a:lnSpc>
                  <a:spcPts val="8249"/>
                </a:lnSpc>
              </a:pPr>
              <a:r>
                <a:rPr lang="en-US" sz="32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Forecasted values</a:t>
              </a:r>
            </a:p>
            <a:p>
              <a:pPr algn="ctr">
                <a:lnSpc>
                  <a:spcPts val="8249"/>
                </a:lnSpc>
              </a:pPr>
              <a:r>
                <a:rPr lang="en-US" sz="32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Confidence interval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72537" y="503899"/>
            <a:ext cx="1493226" cy="1493226"/>
          </a:xfrm>
          <a:custGeom>
            <a:avLst/>
            <a:gdLst/>
            <a:ahLst/>
            <a:cxnLst/>
            <a:rect l="l" t="t" r="r" b="b"/>
            <a:pathLst>
              <a:path w="1493226" h="1493226">
                <a:moveTo>
                  <a:pt x="0" y="0"/>
                </a:moveTo>
                <a:lnTo>
                  <a:pt x="1493226" y="0"/>
                </a:lnTo>
                <a:lnTo>
                  <a:pt x="1493226" y="1493225"/>
                </a:lnTo>
                <a:lnTo>
                  <a:pt x="0" y="1493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83832" y="2560591"/>
            <a:ext cx="9788141" cy="4003626"/>
            <a:chOff x="0" y="0"/>
            <a:chExt cx="2577947" cy="10544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77947" cy="1054453"/>
            </a:xfrm>
            <a:custGeom>
              <a:avLst/>
              <a:gdLst/>
              <a:ahLst/>
              <a:cxnLst/>
              <a:rect l="l" t="t" r="r" b="b"/>
              <a:pathLst>
                <a:path w="2577947" h="1054453">
                  <a:moveTo>
                    <a:pt x="15028" y="0"/>
                  </a:moveTo>
                  <a:lnTo>
                    <a:pt x="2562919" y="0"/>
                  </a:lnTo>
                  <a:cubicBezTo>
                    <a:pt x="2571218" y="0"/>
                    <a:pt x="2577947" y="6728"/>
                    <a:pt x="2577947" y="15028"/>
                  </a:cubicBezTo>
                  <a:lnTo>
                    <a:pt x="2577947" y="1039425"/>
                  </a:lnTo>
                  <a:cubicBezTo>
                    <a:pt x="2577947" y="1047725"/>
                    <a:pt x="2571218" y="1054453"/>
                    <a:pt x="2562919" y="1054453"/>
                  </a:cubicBezTo>
                  <a:lnTo>
                    <a:pt x="15028" y="1054453"/>
                  </a:lnTo>
                  <a:cubicBezTo>
                    <a:pt x="6728" y="1054453"/>
                    <a:pt x="0" y="1047725"/>
                    <a:pt x="0" y="1039425"/>
                  </a:cubicBezTo>
                  <a:lnTo>
                    <a:pt x="0" y="15028"/>
                  </a:lnTo>
                  <a:cubicBezTo>
                    <a:pt x="0" y="6728"/>
                    <a:pt x="6728" y="0"/>
                    <a:pt x="15028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38150"/>
              <a:ext cx="2577947" cy="1492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r>
                <a:rPr lang="en-US" sz="32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Predict upcoming demand &amp; gaps</a:t>
              </a:r>
            </a:p>
            <a:p>
              <a:pPr algn="ctr">
                <a:lnSpc>
                  <a:spcPts val="8249"/>
                </a:lnSpc>
              </a:pPr>
              <a:r>
                <a:rPr lang="en-US" sz="32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Smooth trendlines reduce overreactions</a:t>
              </a:r>
            </a:p>
            <a:p>
              <a:pPr algn="ctr">
                <a:lnSpc>
                  <a:spcPts val="8249"/>
                </a:lnSpc>
              </a:pPr>
              <a:r>
                <a:rPr lang="en-US" sz="32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Region-specific forecasts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728890" y="3551563"/>
            <a:ext cx="1926856" cy="1926856"/>
          </a:xfrm>
          <a:custGeom>
            <a:avLst/>
            <a:gdLst/>
            <a:ahLst/>
            <a:cxnLst/>
            <a:rect l="l" t="t" r="r" b="b"/>
            <a:pathLst>
              <a:path w="1926856" h="1926856">
                <a:moveTo>
                  <a:pt x="0" y="0"/>
                </a:moveTo>
                <a:lnTo>
                  <a:pt x="1926856" y="0"/>
                </a:lnTo>
                <a:lnTo>
                  <a:pt x="1926856" y="1926856"/>
                </a:lnTo>
                <a:lnTo>
                  <a:pt x="0" y="1926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21307" y="7223861"/>
            <a:ext cx="2034439" cy="2034439"/>
          </a:xfrm>
          <a:custGeom>
            <a:avLst/>
            <a:gdLst/>
            <a:ahLst/>
            <a:cxnLst/>
            <a:rect l="l" t="t" r="r" b="b"/>
            <a:pathLst>
              <a:path w="2034439" h="2034439">
                <a:moveTo>
                  <a:pt x="0" y="0"/>
                </a:moveTo>
                <a:lnTo>
                  <a:pt x="2034439" y="0"/>
                </a:lnTo>
                <a:lnTo>
                  <a:pt x="2034439" y="2034439"/>
                </a:lnTo>
                <a:lnTo>
                  <a:pt x="0" y="2034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783832" y="554037"/>
            <a:ext cx="9084568" cy="8611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dirty="0">
                <a:solidFill>
                  <a:srgbClr val="8D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RAW MATERIAL FORECASTING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665763" y="6662188"/>
            <a:ext cx="9788141" cy="3054446"/>
            <a:chOff x="0" y="0"/>
            <a:chExt cx="2577947" cy="8044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77947" cy="804463"/>
            </a:xfrm>
            <a:custGeom>
              <a:avLst/>
              <a:gdLst/>
              <a:ahLst/>
              <a:cxnLst/>
              <a:rect l="l" t="t" r="r" b="b"/>
              <a:pathLst>
                <a:path w="2577947" h="804463">
                  <a:moveTo>
                    <a:pt x="15028" y="0"/>
                  </a:moveTo>
                  <a:lnTo>
                    <a:pt x="2562919" y="0"/>
                  </a:lnTo>
                  <a:cubicBezTo>
                    <a:pt x="2571218" y="0"/>
                    <a:pt x="2577947" y="6728"/>
                    <a:pt x="2577947" y="15028"/>
                  </a:cubicBezTo>
                  <a:lnTo>
                    <a:pt x="2577947" y="789435"/>
                  </a:lnTo>
                  <a:cubicBezTo>
                    <a:pt x="2577947" y="797735"/>
                    <a:pt x="2571218" y="804463"/>
                    <a:pt x="2562919" y="804463"/>
                  </a:cubicBezTo>
                  <a:lnTo>
                    <a:pt x="15028" y="804463"/>
                  </a:lnTo>
                  <a:cubicBezTo>
                    <a:pt x="6728" y="804463"/>
                    <a:pt x="0" y="797735"/>
                    <a:pt x="0" y="789435"/>
                  </a:cubicBezTo>
                  <a:lnTo>
                    <a:pt x="0" y="15028"/>
                  </a:lnTo>
                  <a:cubicBezTo>
                    <a:pt x="0" y="6728"/>
                    <a:pt x="6728" y="0"/>
                    <a:pt x="15028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38150"/>
              <a:ext cx="2577947" cy="1242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r>
                <a:rPr lang="en-US" sz="32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Proactive procurement</a:t>
              </a:r>
            </a:p>
            <a:p>
              <a:pPr algn="ctr">
                <a:lnSpc>
                  <a:spcPts val="8249"/>
                </a:lnSpc>
              </a:pPr>
              <a:endParaRPr lang="en-US" sz="32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ctr">
                <a:lnSpc>
                  <a:spcPts val="8249"/>
                </a:lnSpc>
              </a:pPr>
              <a:r>
                <a:rPr lang="en-US" sz="32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Lower volatility in high-risk seasons</a:t>
              </a:r>
            </a:p>
            <a:p>
              <a:pPr algn="ctr">
                <a:lnSpc>
                  <a:spcPts val="8249"/>
                </a:lnSpc>
              </a:pPr>
              <a:endParaRPr lang="en-US" sz="32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74433" y="2730175"/>
            <a:ext cx="5716207" cy="4826649"/>
            <a:chOff x="0" y="0"/>
            <a:chExt cx="1505503" cy="12712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5503" cy="1271216"/>
            </a:xfrm>
            <a:custGeom>
              <a:avLst/>
              <a:gdLst/>
              <a:ahLst/>
              <a:cxnLst/>
              <a:rect l="l" t="t" r="r" b="b"/>
              <a:pathLst>
                <a:path w="1505503" h="1271216">
                  <a:moveTo>
                    <a:pt x="25733" y="0"/>
                  </a:moveTo>
                  <a:lnTo>
                    <a:pt x="1479770" y="0"/>
                  </a:lnTo>
                  <a:cubicBezTo>
                    <a:pt x="1493982" y="0"/>
                    <a:pt x="1505503" y="11521"/>
                    <a:pt x="1505503" y="25733"/>
                  </a:cubicBezTo>
                  <a:lnTo>
                    <a:pt x="1505503" y="1245483"/>
                  </a:lnTo>
                  <a:cubicBezTo>
                    <a:pt x="1505503" y="1259695"/>
                    <a:pt x="1493982" y="1271216"/>
                    <a:pt x="1479770" y="1271216"/>
                  </a:cubicBezTo>
                  <a:lnTo>
                    <a:pt x="25733" y="1271216"/>
                  </a:lnTo>
                  <a:cubicBezTo>
                    <a:pt x="11521" y="1271216"/>
                    <a:pt x="0" y="1259695"/>
                    <a:pt x="0" y="1245483"/>
                  </a:cubicBezTo>
                  <a:lnTo>
                    <a:pt x="0" y="25733"/>
                  </a:lnTo>
                  <a:cubicBezTo>
                    <a:pt x="0" y="11521"/>
                    <a:pt x="11521" y="0"/>
                    <a:pt x="25733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90525"/>
              <a:ext cx="1505503" cy="1661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47697" lvl="1" indent="-323848" algn="just">
                <a:lnSpc>
                  <a:spcPts val="7499"/>
                </a:lnSpc>
                <a:buFont typeface="Arial"/>
                <a:buChar char="•"/>
              </a:pPr>
              <a:r>
                <a:rPr lang="en-US" sz="29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Driven Predictions</a:t>
              </a:r>
            </a:p>
            <a:p>
              <a:pPr marL="647697" lvl="1" indent="-323848" algn="just">
                <a:lnSpc>
                  <a:spcPts val="7499"/>
                </a:lnSpc>
                <a:buFont typeface="Arial"/>
                <a:buChar char="•"/>
              </a:pPr>
              <a:r>
                <a:rPr lang="en-US" sz="29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Safety Stock Policies</a:t>
              </a:r>
            </a:p>
            <a:p>
              <a:pPr marL="647697" lvl="1" indent="-323848" algn="just">
                <a:lnSpc>
                  <a:spcPts val="7499"/>
                </a:lnSpc>
                <a:buFont typeface="Arial"/>
                <a:buChar char="•"/>
              </a:pPr>
              <a:r>
                <a:rPr lang="en-US" sz="29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Advance Planning 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295962" y="2390667"/>
            <a:ext cx="11476559" cy="5923672"/>
          </a:xfrm>
          <a:custGeom>
            <a:avLst/>
            <a:gdLst/>
            <a:ahLst/>
            <a:cxnLst/>
            <a:rect l="l" t="t" r="r" b="b"/>
            <a:pathLst>
              <a:path w="11476559" h="5923672">
                <a:moveTo>
                  <a:pt x="0" y="0"/>
                </a:moveTo>
                <a:lnTo>
                  <a:pt x="11476559" y="0"/>
                </a:lnTo>
                <a:lnTo>
                  <a:pt x="11476559" y="5923672"/>
                </a:lnTo>
                <a:lnTo>
                  <a:pt x="0" y="59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3" r="-603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97075" y="2271573"/>
            <a:ext cx="9438582" cy="3743812"/>
            <a:chOff x="0" y="0"/>
            <a:chExt cx="2485882" cy="9860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85882" cy="986024"/>
            </a:xfrm>
            <a:custGeom>
              <a:avLst/>
              <a:gdLst/>
              <a:ahLst/>
              <a:cxnLst/>
              <a:rect l="l" t="t" r="r" b="b"/>
              <a:pathLst>
                <a:path w="2485882" h="986024">
                  <a:moveTo>
                    <a:pt x="15585" y="0"/>
                  </a:moveTo>
                  <a:lnTo>
                    <a:pt x="2470297" y="0"/>
                  </a:lnTo>
                  <a:cubicBezTo>
                    <a:pt x="2478904" y="0"/>
                    <a:pt x="2485882" y="6977"/>
                    <a:pt x="2485882" y="15585"/>
                  </a:cubicBezTo>
                  <a:lnTo>
                    <a:pt x="2485882" y="970440"/>
                  </a:lnTo>
                  <a:cubicBezTo>
                    <a:pt x="2485882" y="979047"/>
                    <a:pt x="2478904" y="986024"/>
                    <a:pt x="2470297" y="986024"/>
                  </a:cubicBezTo>
                  <a:lnTo>
                    <a:pt x="15585" y="986024"/>
                  </a:lnTo>
                  <a:cubicBezTo>
                    <a:pt x="11451" y="986024"/>
                    <a:pt x="7487" y="984382"/>
                    <a:pt x="4565" y="981460"/>
                  </a:cubicBezTo>
                  <a:cubicBezTo>
                    <a:pt x="1642" y="978537"/>
                    <a:pt x="0" y="974573"/>
                    <a:pt x="0" y="970440"/>
                  </a:cubicBezTo>
                  <a:lnTo>
                    <a:pt x="0" y="15585"/>
                  </a:lnTo>
                  <a:cubicBezTo>
                    <a:pt x="0" y="6977"/>
                    <a:pt x="6977" y="0"/>
                    <a:pt x="15585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19100"/>
              <a:ext cx="2485882" cy="14051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749"/>
                </a:lnSpc>
              </a:pPr>
              <a:endParaRPr lang="en-US" sz="30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ctr">
                <a:lnSpc>
                  <a:spcPts val="7749"/>
                </a:lnSpc>
              </a:pPr>
              <a:r>
                <a:rPr lang="en-US" sz="30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Stabilizes regional production plans</a:t>
              </a:r>
            </a:p>
            <a:p>
              <a:pPr algn="ctr">
                <a:lnSpc>
                  <a:spcPts val="7749"/>
                </a:lnSpc>
              </a:pPr>
              <a:r>
                <a:rPr lang="en-US" sz="30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Incorporates seasonal patterns</a:t>
              </a:r>
            </a:p>
            <a:p>
              <a:pPr algn="ctr">
                <a:lnSpc>
                  <a:spcPts val="7749"/>
                </a:lnSpc>
              </a:pPr>
              <a:r>
                <a:rPr lang="en-US" sz="30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Offers 3–6-month visibility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10560" y="6453580"/>
            <a:ext cx="9525098" cy="3575001"/>
            <a:chOff x="0" y="0"/>
            <a:chExt cx="2508668" cy="9415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08668" cy="941564"/>
            </a:xfrm>
            <a:custGeom>
              <a:avLst/>
              <a:gdLst/>
              <a:ahLst/>
              <a:cxnLst/>
              <a:rect l="l" t="t" r="r" b="b"/>
              <a:pathLst>
                <a:path w="2508668" h="941564">
                  <a:moveTo>
                    <a:pt x="15443" y="0"/>
                  </a:moveTo>
                  <a:lnTo>
                    <a:pt x="2493225" y="0"/>
                  </a:lnTo>
                  <a:cubicBezTo>
                    <a:pt x="2497320" y="0"/>
                    <a:pt x="2501248" y="1627"/>
                    <a:pt x="2504145" y="4523"/>
                  </a:cubicBezTo>
                  <a:cubicBezTo>
                    <a:pt x="2507041" y="7419"/>
                    <a:pt x="2508668" y="11347"/>
                    <a:pt x="2508668" y="15443"/>
                  </a:cubicBezTo>
                  <a:lnTo>
                    <a:pt x="2508668" y="926121"/>
                  </a:lnTo>
                  <a:cubicBezTo>
                    <a:pt x="2508668" y="930217"/>
                    <a:pt x="2507041" y="934145"/>
                    <a:pt x="2504145" y="937041"/>
                  </a:cubicBezTo>
                  <a:cubicBezTo>
                    <a:pt x="2501248" y="939937"/>
                    <a:pt x="2497320" y="941564"/>
                    <a:pt x="2493225" y="941564"/>
                  </a:cubicBezTo>
                  <a:lnTo>
                    <a:pt x="15443" y="941564"/>
                  </a:lnTo>
                  <a:cubicBezTo>
                    <a:pt x="6914" y="941564"/>
                    <a:pt x="0" y="934650"/>
                    <a:pt x="0" y="926121"/>
                  </a:cubicBezTo>
                  <a:lnTo>
                    <a:pt x="0" y="15443"/>
                  </a:lnTo>
                  <a:cubicBezTo>
                    <a:pt x="0" y="11347"/>
                    <a:pt x="1627" y="7419"/>
                    <a:pt x="4523" y="4523"/>
                  </a:cubicBezTo>
                  <a:cubicBezTo>
                    <a:pt x="7419" y="1627"/>
                    <a:pt x="11347" y="0"/>
                    <a:pt x="15443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19100"/>
              <a:ext cx="2508668" cy="13606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749"/>
                </a:lnSpc>
              </a:pPr>
              <a:endParaRPr lang="en-US" sz="30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ctr">
                <a:lnSpc>
                  <a:spcPts val="7749"/>
                </a:lnSpc>
              </a:pPr>
              <a:r>
                <a:rPr lang="en-US" sz="30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Improves shift scheduling</a:t>
              </a:r>
            </a:p>
            <a:p>
              <a:pPr algn="ctr">
                <a:lnSpc>
                  <a:spcPts val="7749"/>
                </a:lnSpc>
              </a:pPr>
              <a:r>
                <a:rPr lang="en-US" sz="30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Reduces overtime, idle time, and</a:t>
              </a:r>
            </a:p>
            <a:p>
              <a:pPr algn="ctr">
                <a:lnSpc>
                  <a:spcPts val="7749"/>
                </a:lnSpc>
              </a:pPr>
              <a:r>
                <a:rPr lang="en-US" sz="30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emergency procurement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3400873" y="337220"/>
            <a:ext cx="1496203" cy="1496203"/>
          </a:xfrm>
          <a:custGeom>
            <a:avLst/>
            <a:gdLst/>
            <a:ahLst/>
            <a:cxnLst/>
            <a:rect l="l" t="t" r="r" b="b"/>
            <a:pathLst>
              <a:path w="1496203" h="1496203">
                <a:moveTo>
                  <a:pt x="0" y="0"/>
                </a:moveTo>
                <a:lnTo>
                  <a:pt x="1496202" y="0"/>
                </a:lnTo>
                <a:lnTo>
                  <a:pt x="1496202" y="1496203"/>
                </a:lnTo>
                <a:lnTo>
                  <a:pt x="0" y="14962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28700" y="3333642"/>
            <a:ext cx="2493135" cy="2493135"/>
          </a:xfrm>
          <a:custGeom>
            <a:avLst/>
            <a:gdLst/>
            <a:ahLst/>
            <a:cxnLst/>
            <a:rect l="l" t="t" r="r" b="b"/>
            <a:pathLst>
              <a:path w="2493135" h="2493135">
                <a:moveTo>
                  <a:pt x="0" y="0"/>
                </a:moveTo>
                <a:lnTo>
                  <a:pt x="2493135" y="0"/>
                </a:lnTo>
                <a:lnTo>
                  <a:pt x="2493135" y="2493135"/>
                </a:lnTo>
                <a:lnTo>
                  <a:pt x="0" y="2493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72704" y="7326996"/>
            <a:ext cx="1551496" cy="1702704"/>
          </a:xfrm>
          <a:custGeom>
            <a:avLst/>
            <a:gdLst/>
            <a:ahLst/>
            <a:cxnLst/>
            <a:rect l="l" t="t" r="r" b="b"/>
            <a:pathLst>
              <a:path w="1828168" h="1828168">
                <a:moveTo>
                  <a:pt x="0" y="0"/>
                </a:moveTo>
                <a:lnTo>
                  <a:pt x="1828169" y="0"/>
                </a:lnTo>
                <a:lnTo>
                  <a:pt x="1828169" y="1828169"/>
                </a:lnTo>
                <a:lnTo>
                  <a:pt x="0" y="18281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875337" y="554037"/>
            <a:ext cx="7515589" cy="8611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8D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Production Forecasting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74433" y="1844642"/>
            <a:ext cx="5716207" cy="6048029"/>
            <a:chOff x="0" y="0"/>
            <a:chExt cx="1505503" cy="15928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5503" cy="1592896"/>
            </a:xfrm>
            <a:custGeom>
              <a:avLst/>
              <a:gdLst/>
              <a:ahLst/>
              <a:cxnLst/>
              <a:rect l="l" t="t" r="r" b="b"/>
              <a:pathLst>
                <a:path w="1505503" h="1592896">
                  <a:moveTo>
                    <a:pt x="25733" y="0"/>
                  </a:moveTo>
                  <a:lnTo>
                    <a:pt x="1479770" y="0"/>
                  </a:lnTo>
                  <a:cubicBezTo>
                    <a:pt x="1493982" y="0"/>
                    <a:pt x="1505503" y="11521"/>
                    <a:pt x="1505503" y="25733"/>
                  </a:cubicBezTo>
                  <a:lnTo>
                    <a:pt x="1505503" y="1567163"/>
                  </a:lnTo>
                  <a:cubicBezTo>
                    <a:pt x="1505503" y="1581375"/>
                    <a:pt x="1493982" y="1592896"/>
                    <a:pt x="1479770" y="1592896"/>
                  </a:cubicBezTo>
                  <a:lnTo>
                    <a:pt x="25733" y="1592896"/>
                  </a:lnTo>
                  <a:cubicBezTo>
                    <a:pt x="11521" y="1592896"/>
                    <a:pt x="0" y="1581375"/>
                    <a:pt x="0" y="1567163"/>
                  </a:cubicBezTo>
                  <a:lnTo>
                    <a:pt x="0" y="25733"/>
                  </a:lnTo>
                  <a:cubicBezTo>
                    <a:pt x="0" y="11521"/>
                    <a:pt x="11521" y="0"/>
                    <a:pt x="25733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90525"/>
              <a:ext cx="1505503" cy="1983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47697" lvl="1" indent="-323848" algn="l">
                <a:lnSpc>
                  <a:spcPts val="7499"/>
                </a:lnSpc>
                <a:buFont typeface="Arial"/>
                <a:buChar char="•"/>
              </a:pPr>
              <a:endParaRPr lang="en-US" sz="2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marL="647697" lvl="1" indent="-323848" algn="l">
                <a:lnSpc>
                  <a:spcPts val="7499"/>
                </a:lnSpc>
                <a:buFont typeface="Arial"/>
                <a:buChar char="•"/>
              </a:pPr>
              <a:r>
                <a:rPr lang="en-US" sz="29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Forecast confidence intervals narrow.</a:t>
              </a:r>
            </a:p>
            <a:p>
              <a:pPr marL="647697" lvl="1" indent="-323848" algn="l">
                <a:lnSpc>
                  <a:spcPts val="7499"/>
                </a:lnSpc>
                <a:buFont typeface="Arial"/>
                <a:buChar char="•"/>
              </a:pPr>
              <a:r>
                <a:rPr lang="en-US" sz="29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seasonal trends .</a:t>
              </a:r>
            </a:p>
            <a:p>
              <a:pPr marL="647697" lvl="1" indent="-323848" algn="l">
                <a:lnSpc>
                  <a:spcPts val="7499"/>
                </a:lnSpc>
                <a:buFont typeface="Arial"/>
                <a:buChar char="•"/>
              </a:pPr>
              <a:r>
                <a:rPr lang="en-US" sz="29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shaded area shows upper/lower production estimate bounds.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364976" y="1844642"/>
            <a:ext cx="11549855" cy="6048029"/>
          </a:xfrm>
          <a:custGeom>
            <a:avLst/>
            <a:gdLst/>
            <a:ahLst/>
            <a:cxnLst/>
            <a:rect l="l" t="t" r="r" b="b"/>
            <a:pathLst>
              <a:path w="11549855" h="6048029">
                <a:moveTo>
                  <a:pt x="0" y="0"/>
                </a:moveTo>
                <a:lnTo>
                  <a:pt x="11549855" y="0"/>
                </a:lnTo>
                <a:lnTo>
                  <a:pt x="11549855" y="6048029"/>
                </a:lnTo>
                <a:lnTo>
                  <a:pt x="0" y="6048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917" r="-6917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72537" y="503899"/>
            <a:ext cx="1493226" cy="1493226"/>
          </a:xfrm>
          <a:custGeom>
            <a:avLst/>
            <a:gdLst/>
            <a:ahLst/>
            <a:cxnLst/>
            <a:rect l="l" t="t" r="r" b="b"/>
            <a:pathLst>
              <a:path w="1493226" h="1493226">
                <a:moveTo>
                  <a:pt x="0" y="0"/>
                </a:moveTo>
                <a:lnTo>
                  <a:pt x="1493226" y="0"/>
                </a:lnTo>
                <a:lnTo>
                  <a:pt x="1493226" y="1493225"/>
                </a:lnTo>
                <a:lnTo>
                  <a:pt x="0" y="1493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10163" y="2059173"/>
            <a:ext cx="12593537" cy="4003626"/>
            <a:chOff x="0" y="0"/>
            <a:chExt cx="3316816" cy="10544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16817" cy="1054453"/>
            </a:xfrm>
            <a:custGeom>
              <a:avLst/>
              <a:gdLst/>
              <a:ahLst/>
              <a:cxnLst/>
              <a:rect l="l" t="t" r="r" b="b"/>
              <a:pathLst>
                <a:path w="3316817" h="1054453">
                  <a:moveTo>
                    <a:pt x="11680" y="0"/>
                  </a:moveTo>
                  <a:lnTo>
                    <a:pt x="3305136" y="0"/>
                  </a:lnTo>
                  <a:cubicBezTo>
                    <a:pt x="3311587" y="0"/>
                    <a:pt x="3316817" y="5229"/>
                    <a:pt x="3316817" y="11680"/>
                  </a:cubicBezTo>
                  <a:lnTo>
                    <a:pt x="3316817" y="1042773"/>
                  </a:lnTo>
                  <a:cubicBezTo>
                    <a:pt x="3316817" y="1049223"/>
                    <a:pt x="3311587" y="1054453"/>
                    <a:pt x="3305136" y="1054453"/>
                  </a:cubicBezTo>
                  <a:lnTo>
                    <a:pt x="11680" y="1054453"/>
                  </a:lnTo>
                  <a:cubicBezTo>
                    <a:pt x="5229" y="1054453"/>
                    <a:pt x="0" y="1049223"/>
                    <a:pt x="0" y="1042773"/>
                  </a:cubicBezTo>
                  <a:lnTo>
                    <a:pt x="0" y="11680"/>
                  </a:lnTo>
                  <a:cubicBezTo>
                    <a:pt x="0" y="5229"/>
                    <a:pt x="5229" y="0"/>
                    <a:pt x="11680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38150"/>
              <a:ext cx="3316816" cy="1492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endParaRPr lang="en-US" sz="32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ctr">
                <a:lnSpc>
                  <a:spcPts val="8249"/>
                </a:lnSpc>
              </a:pPr>
              <a:r>
                <a:rPr lang="en-US" sz="32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Dynamic models account for external factors</a:t>
              </a:r>
            </a:p>
            <a:p>
              <a:pPr algn="ctr">
                <a:lnSpc>
                  <a:spcPts val="8249"/>
                </a:lnSpc>
              </a:pPr>
              <a:r>
                <a:rPr lang="en-US" sz="32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Season-aware dispatch predictions</a:t>
              </a:r>
            </a:p>
            <a:p>
              <a:pPr algn="ctr">
                <a:lnSpc>
                  <a:spcPts val="8249"/>
                </a:lnSpc>
              </a:pPr>
              <a:r>
                <a:rPr lang="en-US" sz="32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Confidence intervals guide transport planning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621307" y="7223861"/>
            <a:ext cx="2034439" cy="2034439"/>
          </a:xfrm>
          <a:custGeom>
            <a:avLst/>
            <a:gdLst/>
            <a:ahLst/>
            <a:cxnLst/>
            <a:rect l="l" t="t" r="r" b="b"/>
            <a:pathLst>
              <a:path w="2034439" h="2034439">
                <a:moveTo>
                  <a:pt x="0" y="0"/>
                </a:moveTo>
                <a:lnTo>
                  <a:pt x="2034439" y="0"/>
                </a:lnTo>
                <a:lnTo>
                  <a:pt x="2034439" y="2034439"/>
                </a:lnTo>
                <a:lnTo>
                  <a:pt x="0" y="2034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783832" y="6713857"/>
            <a:ext cx="9788141" cy="3054446"/>
            <a:chOff x="0" y="0"/>
            <a:chExt cx="2577947" cy="8044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77947" cy="804463"/>
            </a:xfrm>
            <a:custGeom>
              <a:avLst/>
              <a:gdLst/>
              <a:ahLst/>
              <a:cxnLst/>
              <a:rect l="l" t="t" r="r" b="b"/>
              <a:pathLst>
                <a:path w="2577947" h="804463">
                  <a:moveTo>
                    <a:pt x="15028" y="0"/>
                  </a:moveTo>
                  <a:lnTo>
                    <a:pt x="2562919" y="0"/>
                  </a:lnTo>
                  <a:cubicBezTo>
                    <a:pt x="2571218" y="0"/>
                    <a:pt x="2577947" y="6728"/>
                    <a:pt x="2577947" y="15028"/>
                  </a:cubicBezTo>
                  <a:lnTo>
                    <a:pt x="2577947" y="789435"/>
                  </a:lnTo>
                  <a:cubicBezTo>
                    <a:pt x="2577947" y="797735"/>
                    <a:pt x="2571218" y="804463"/>
                    <a:pt x="2562919" y="804463"/>
                  </a:cubicBezTo>
                  <a:lnTo>
                    <a:pt x="15028" y="804463"/>
                  </a:lnTo>
                  <a:cubicBezTo>
                    <a:pt x="6728" y="804463"/>
                    <a:pt x="0" y="797735"/>
                    <a:pt x="0" y="789435"/>
                  </a:cubicBezTo>
                  <a:lnTo>
                    <a:pt x="0" y="15028"/>
                  </a:lnTo>
                  <a:cubicBezTo>
                    <a:pt x="0" y="6728"/>
                    <a:pt x="6728" y="0"/>
                    <a:pt x="15028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38150"/>
              <a:ext cx="2577947" cy="1242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r>
                <a:rPr lang="en-US" sz="32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Reduces</a:t>
              </a:r>
            </a:p>
            <a:p>
              <a:pPr algn="ctr">
                <a:lnSpc>
                  <a:spcPts val="8249"/>
                </a:lnSpc>
              </a:pPr>
              <a:endParaRPr lang="en-US" sz="32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ctr">
                <a:lnSpc>
                  <a:spcPts val="8249"/>
                </a:lnSpc>
              </a:pPr>
              <a:r>
                <a:rPr lang="en-US" sz="32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Spring/Winter dispatch gaps</a:t>
              </a:r>
            </a:p>
            <a:p>
              <a:pPr algn="ctr">
                <a:lnSpc>
                  <a:spcPts val="8249"/>
                </a:lnSpc>
              </a:pPr>
              <a:r>
                <a:rPr lang="en-US" sz="32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Improves on-time deliveries</a:t>
              </a:r>
            </a:p>
            <a:p>
              <a:pPr algn="ctr">
                <a:lnSpc>
                  <a:spcPts val="8249"/>
                </a:lnSpc>
              </a:pPr>
              <a:endParaRPr lang="en-US" sz="32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291013" y="3297000"/>
            <a:ext cx="3919150" cy="1846500"/>
          </a:xfrm>
          <a:custGeom>
            <a:avLst/>
            <a:gdLst/>
            <a:ahLst/>
            <a:cxnLst/>
            <a:rect l="l" t="t" r="r" b="b"/>
            <a:pathLst>
              <a:path w="3919150" h="1846500">
                <a:moveTo>
                  <a:pt x="0" y="0"/>
                </a:moveTo>
                <a:lnTo>
                  <a:pt x="3919150" y="0"/>
                </a:lnTo>
                <a:lnTo>
                  <a:pt x="3919150" y="1846500"/>
                </a:lnTo>
                <a:lnTo>
                  <a:pt x="0" y="1846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21488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672112" y="554037"/>
            <a:ext cx="10263088" cy="8611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dirty="0">
                <a:solidFill>
                  <a:srgbClr val="8D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Dispatch &amp; Delivery Forecasting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83563" y="1028699"/>
            <a:ext cx="5675838" cy="6424053"/>
            <a:chOff x="0" y="-235715"/>
            <a:chExt cx="1494871" cy="16919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8019" cy="1456217"/>
            </a:xfrm>
            <a:custGeom>
              <a:avLst/>
              <a:gdLst/>
              <a:ahLst/>
              <a:cxnLst/>
              <a:rect l="l" t="t" r="r" b="b"/>
              <a:pathLst>
                <a:path w="1448019" h="1456217">
                  <a:moveTo>
                    <a:pt x="26755" y="0"/>
                  </a:moveTo>
                  <a:lnTo>
                    <a:pt x="1421264" y="0"/>
                  </a:lnTo>
                  <a:cubicBezTo>
                    <a:pt x="1428360" y="0"/>
                    <a:pt x="1435165" y="2819"/>
                    <a:pt x="1440183" y="7836"/>
                  </a:cubicBezTo>
                  <a:cubicBezTo>
                    <a:pt x="1445200" y="12854"/>
                    <a:pt x="1448019" y="19659"/>
                    <a:pt x="1448019" y="26755"/>
                  </a:cubicBezTo>
                  <a:lnTo>
                    <a:pt x="1448019" y="1429462"/>
                  </a:lnTo>
                  <a:cubicBezTo>
                    <a:pt x="1448019" y="1436558"/>
                    <a:pt x="1445200" y="1443363"/>
                    <a:pt x="1440183" y="1448380"/>
                  </a:cubicBezTo>
                  <a:cubicBezTo>
                    <a:pt x="1435165" y="1453398"/>
                    <a:pt x="1428360" y="1456217"/>
                    <a:pt x="1421264" y="1456217"/>
                  </a:cubicBezTo>
                  <a:lnTo>
                    <a:pt x="26755" y="1456217"/>
                  </a:lnTo>
                  <a:cubicBezTo>
                    <a:pt x="19659" y="1456217"/>
                    <a:pt x="12854" y="1453398"/>
                    <a:pt x="7836" y="1448380"/>
                  </a:cubicBezTo>
                  <a:cubicBezTo>
                    <a:pt x="2819" y="1443363"/>
                    <a:pt x="0" y="1436558"/>
                    <a:pt x="0" y="1429462"/>
                  </a:cubicBezTo>
                  <a:lnTo>
                    <a:pt x="0" y="26755"/>
                  </a:lnTo>
                  <a:cubicBezTo>
                    <a:pt x="0" y="19659"/>
                    <a:pt x="2819" y="12854"/>
                    <a:pt x="7836" y="7836"/>
                  </a:cubicBezTo>
                  <a:cubicBezTo>
                    <a:pt x="12854" y="2819"/>
                    <a:pt x="19659" y="0"/>
                    <a:pt x="26755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35715"/>
              <a:ext cx="1494871" cy="169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47697" lvl="1" indent="-323848" algn="l">
                <a:lnSpc>
                  <a:spcPts val="7499"/>
                </a:lnSpc>
                <a:buFont typeface="Arial"/>
                <a:buChar char="•"/>
              </a:pPr>
              <a:r>
                <a:rPr lang="en-US" sz="29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significant fluctuations</a:t>
              </a:r>
            </a:p>
            <a:p>
              <a:pPr marL="647697" lvl="1" indent="-323848" algn="l">
                <a:lnSpc>
                  <a:spcPts val="7499"/>
                </a:lnSpc>
                <a:buFont typeface="Arial"/>
                <a:buChar char="•"/>
              </a:pPr>
              <a:r>
                <a:rPr lang="en-US" sz="29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little anticipated growth</a:t>
              </a:r>
            </a:p>
            <a:p>
              <a:pPr marL="647697" lvl="1" indent="-323848" algn="l">
                <a:lnSpc>
                  <a:spcPts val="7499"/>
                </a:lnSpc>
                <a:buFont typeface="Arial"/>
                <a:buChar char="•"/>
              </a:pPr>
              <a:r>
                <a:rPr lang="en-US" sz="29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limitations in the forecasting model  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411933" y="1923679"/>
            <a:ext cx="11533387" cy="5608109"/>
          </a:xfrm>
          <a:custGeom>
            <a:avLst/>
            <a:gdLst/>
            <a:ahLst/>
            <a:cxnLst/>
            <a:rect l="l" t="t" r="r" b="b"/>
            <a:pathLst>
              <a:path w="11533387" h="5608109">
                <a:moveTo>
                  <a:pt x="0" y="0"/>
                </a:moveTo>
                <a:lnTo>
                  <a:pt x="11533387" y="0"/>
                </a:lnTo>
                <a:lnTo>
                  <a:pt x="11533387" y="5608110"/>
                </a:lnTo>
                <a:lnTo>
                  <a:pt x="0" y="5608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72537" y="503899"/>
            <a:ext cx="1493226" cy="1493226"/>
          </a:xfrm>
          <a:custGeom>
            <a:avLst/>
            <a:gdLst/>
            <a:ahLst/>
            <a:cxnLst/>
            <a:rect l="l" t="t" r="r" b="b"/>
            <a:pathLst>
              <a:path w="1493226" h="1493226">
                <a:moveTo>
                  <a:pt x="0" y="0"/>
                </a:moveTo>
                <a:lnTo>
                  <a:pt x="1493226" y="0"/>
                </a:lnTo>
                <a:lnTo>
                  <a:pt x="1493226" y="1493225"/>
                </a:lnTo>
                <a:lnTo>
                  <a:pt x="0" y="1493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10163" y="2059173"/>
            <a:ext cx="12593537" cy="4003626"/>
            <a:chOff x="0" y="0"/>
            <a:chExt cx="3316816" cy="10544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16817" cy="1054453"/>
            </a:xfrm>
            <a:custGeom>
              <a:avLst/>
              <a:gdLst/>
              <a:ahLst/>
              <a:cxnLst/>
              <a:rect l="l" t="t" r="r" b="b"/>
              <a:pathLst>
                <a:path w="3316817" h="1054453">
                  <a:moveTo>
                    <a:pt x="11680" y="0"/>
                  </a:moveTo>
                  <a:lnTo>
                    <a:pt x="3305136" y="0"/>
                  </a:lnTo>
                  <a:cubicBezTo>
                    <a:pt x="3311587" y="0"/>
                    <a:pt x="3316817" y="5229"/>
                    <a:pt x="3316817" y="11680"/>
                  </a:cubicBezTo>
                  <a:lnTo>
                    <a:pt x="3316817" y="1042773"/>
                  </a:lnTo>
                  <a:cubicBezTo>
                    <a:pt x="3316817" y="1049223"/>
                    <a:pt x="3311587" y="1054453"/>
                    <a:pt x="3305136" y="1054453"/>
                  </a:cubicBezTo>
                  <a:lnTo>
                    <a:pt x="11680" y="1054453"/>
                  </a:lnTo>
                  <a:cubicBezTo>
                    <a:pt x="5229" y="1054453"/>
                    <a:pt x="0" y="1049223"/>
                    <a:pt x="0" y="1042773"/>
                  </a:cubicBezTo>
                  <a:lnTo>
                    <a:pt x="0" y="11680"/>
                  </a:lnTo>
                  <a:cubicBezTo>
                    <a:pt x="0" y="5229"/>
                    <a:pt x="5229" y="0"/>
                    <a:pt x="11680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38150"/>
              <a:ext cx="3316816" cy="1492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r>
                <a:rPr lang="en-US" sz="32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Identifies future demand trends</a:t>
              </a:r>
            </a:p>
            <a:p>
              <a:pPr algn="ctr">
                <a:lnSpc>
                  <a:spcPts val="8249"/>
                </a:lnSpc>
              </a:pPr>
              <a:r>
                <a:rPr lang="en-US" sz="32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Region- and season-specific order forecasts</a:t>
              </a:r>
            </a:p>
            <a:p>
              <a:pPr algn="ctr">
                <a:lnSpc>
                  <a:spcPts val="8249"/>
                </a:lnSpc>
              </a:pPr>
              <a:r>
                <a:rPr lang="en-US" sz="32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Confidence bands help manage risk</a:t>
              </a:r>
            </a:p>
            <a:p>
              <a:pPr algn="ctr">
                <a:lnSpc>
                  <a:spcPts val="8249"/>
                </a:lnSpc>
              </a:pPr>
              <a:endParaRPr lang="en-US" sz="32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621307" y="7223861"/>
            <a:ext cx="2034439" cy="2034439"/>
          </a:xfrm>
          <a:custGeom>
            <a:avLst/>
            <a:gdLst/>
            <a:ahLst/>
            <a:cxnLst/>
            <a:rect l="l" t="t" r="r" b="b"/>
            <a:pathLst>
              <a:path w="2034439" h="2034439">
                <a:moveTo>
                  <a:pt x="0" y="0"/>
                </a:moveTo>
                <a:lnTo>
                  <a:pt x="2034439" y="0"/>
                </a:lnTo>
                <a:lnTo>
                  <a:pt x="2034439" y="2034439"/>
                </a:lnTo>
                <a:lnTo>
                  <a:pt x="0" y="2034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210163" y="6643823"/>
            <a:ext cx="12593537" cy="3063139"/>
            <a:chOff x="0" y="0"/>
            <a:chExt cx="3316816" cy="8067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16817" cy="806753"/>
            </a:xfrm>
            <a:custGeom>
              <a:avLst/>
              <a:gdLst/>
              <a:ahLst/>
              <a:cxnLst/>
              <a:rect l="l" t="t" r="r" b="b"/>
              <a:pathLst>
                <a:path w="3316817" h="806753">
                  <a:moveTo>
                    <a:pt x="11680" y="0"/>
                  </a:moveTo>
                  <a:lnTo>
                    <a:pt x="3305136" y="0"/>
                  </a:lnTo>
                  <a:cubicBezTo>
                    <a:pt x="3311587" y="0"/>
                    <a:pt x="3316817" y="5229"/>
                    <a:pt x="3316817" y="11680"/>
                  </a:cubicBezTo>
                  <a:lnTo>
                    <a:pt x="3316817" y="795072"/>
                  </a:lnTo>
                  <a:cubicBezTo>
                    <a:pt x="3316817" y="801523"/>
                    <a:pt x="3311587" y="806753"/>
                    <a:pt x="3305136" y="806753"/>
                  </a:cubicBezTo>
                  <a:lnTo>
                    <a:pt x="11680" y="806753"/>
                  </a:lnTo>
                  <a:cubicBezTo>
                    <a:pt x="5229" y="806753"/>
                    <a:pt x="0" y="801523"/>
                    <a:pt x="0" y="795072"/>
                  </a:cubicBezTo>
                  <a:lnTo>
                    <a:pt x="0" y="11680"/>
                  </a:lnTo>
                  <a:cubicBezTo>
                    <a:pt x="0" y="5229"/>
                    <a:pt x="5229" y="0"/>
                    <a:pt x="11680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90525"/>
              <a:ext cx="3316816" cy="1197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499"/>
                </a:lnSpc>
              </a:pPr>
              <a:r>
                <a:rPr lang="en-US" sz="29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Cuts down retailer distortion</a:t>
              </a:r>
            </a:p>
            <a:p>
              <a:pPr algn="ctr">
                <a:lnSpc>
                  <a:spcPts val="7499"/>
                </a:lnSpc>
              </a:pPr>
              <a:r>
                <a:rPr lang="en-US" sz="29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Enables tailored warehouse &amp; vendor plans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368287" y="3040251"/>
            <a:ext cx="2041469" cy="2041469"/>
          </a:xfrm>
          <a:custGeom>
            <a:avLst/>
            <a:gdLst/>
            <a:ahLst/>
            <a:cxnLst/>
            <a:rect l="l" t="t" r="r" b="b"/>
            <a:pathLst>
              <a:path w="2041469" h="2041469">
                <a:moveTo>
                  <a:pt x="0" y="0"/>
                </a:moveTo>
                <a:lnTo>
                  <a:pt x="2041469" y="0"/>
                </a:lnTo>
                <a:lnTo>
                  <a:pt x="2041469" y="2041469"/>
                </a:lnTo>
                <a:lnTo>
                  <a:pt x="0" y="2041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381822" y="544512"/>
            <a:ext cx="10010577" cy="947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dirty="0">
                <a:solidFill>
                  <a:srgbClr val="8D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Retail Order Forecasting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92000" y="440904"/>
            <a:ext cx="5807681" cy="7274670"/>
            <a:chOff x="0" y="-390525"/>
            <a:chExt cx="1479142" cy="19159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9142" cy="1525437"/>
            </a:xfrm>
            <a:custGeom>
              <a:avLst/>
              <a:gdLst/>
              <a:ahLst/>
              <a:cxnLst/>
              <a:rect l="l" t="t" r="r" b="b"/>
              <a:pathLst>
                <a:path w="1479142" h="1525437">
                  <a:moveTo>
                    <a:pt x="26192" y="0"/>
                  </a:moveTo>
                  <a:lnTo>
                    <a:pt x="1452950" y="0"/>
                  </a:lnTo>
                  <a:cubicBezTo>
                    <a:pt x="1459897" y="0"/>
                    <a:pt x="1466559" y="2759"/>
                    <a:pt x="1471471" y="7671"/>
                  </a:cubicBezTo>
                  <a:cubicBezTo>
                    <a:pt x="1476383" y="12583"/>
                    <a:pt x="1479142" y="19245"/>
                    <a:pt x="1479142" y="26192"/>
                  </a:cubicBezTo>
                  <a:lnTo>
                    <a:pt x="1479142" y="1499246"/>
                  </a:lnTo>
                  <a:cubicBezTo>
                    <a:pt x="1479142" y="1506192"/>
                    <a:pt x="1476383" y="1512854"/>
                    <a:pt x="1471471" y="1517766"/>
                  </a:cubicBezTo>
                  <a:cubicBezTo>
                    <a:pt x="1466559" y="1522678"/>
                    <a:pt x="1459897" y="1525437"/>
                    <a:pt x="1452950" y="1525437"/>
                  </a:cubicBezTo>
                  <a:lnTo>
                    <a:pt x="26192" y="1525437"/>
                  </a:lnTo>
                  <a:cubicBezTo>
                    <a:pt x="19245" y="1525437"/>
                    <a:pt x="12583" y="1522678"/>
                    <a:pt x="7671" y="1517766"/>
                  </a:cubicBezTo>
                  <a:cubicBezTo>
                    <a:pt x="2759" y="1512854"/>
                    <a:pt x="0" y="1506192"/>
                    <a:pt x="0" y="1499246"/>
                  </a:cubicBezTo>
                  <a:lnTo>
                    <a:pt x="0" y="26192"/>
                  </a:lnTo>
                  <a:cubicBezTo>
                    <a:pt x="0" y="19245"/>
                    <a:pt x="2759" y="12583"/>
                    <a:pt x="7671" y="7671"/>
                  </a:cubicBezTo>
                  <a:cubicBezTo>
                    <a:pt x="12583" y="2759"/>
                    <a:pt x="19245" y="0"/>
                    <a:pt x="26192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58221" y="-390525"/>
              <a:ext cx="1420921" cy="19159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57200" indent="-457200">
                <a:lnSpc>
                  <a:spcPts val="7499"/>
                </a:lnSpc>
                <a:buFont typeface="Arial" panose="020B0604020202020204" pitchFamily="34" charset="0"/>
                <a:buChar char="•"/>
              </a:pPr>
              <a:endParaRPr lang="en-US" sz="2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marL="457200" indent="-457200">
                <a:lnSpc>
                  <a:spcPts val="7499"/>
                </a:lnSpc>
                <a:buFont typeface="Arial" panose="020B0604020202020204" pitchFamily="34" charset="0"/>
                <a:buChar char="•"/>
              </a:pPr>
              <a:r>
                <a:rPr lang="en-US" sz="29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Forecast shows a rising trend in early 2025.</a:t>
              </a:r>
            </a:p>
            <a:p>
              <a:pPr marL="457200" indent="-457200">
                <a:lnSpc>
                  <a:spcPts val="7499"/>
                </a:lnSpc>
                <a:buFont typeface="Arial" panose="020B0604020202020204" pitchFamily="34" charset="0"/>
                <a:buChar char="•"/>
              </a:pPr>
              <a:r>
                <a:rPr lang="en-US" sz="29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confidence interval accounts for forecast uncertainty.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546859" y="1923679"/>
            <a:ext cx="11301259" cy="5791895"/>
          </a:xfrm>
          <a:custGeom>
            <a:avLst/>
            <a:gdLst/>
            <a:ahLst/>
            <a:cxnLst/>
            <a:rect l="l" t="t" r="r" b="b"/>
            <a:pathLst>
              <a:path w="11301259" h="5791895">
                <a:moveTo>
                  <a:pt x="0" y="0"/>
                </a:moveTo>
                <a:lnTo>
                  <a:pt x="11301259" y="0"/>
                </a:lnTo>
                <a:lnTo>
                  <a:pt x="11301259" y="5791895"/>
                </a:lnTo>
                <a:lnTo>
                  <a:pt x="0" y="5791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95800" y="412898"/>
            <a:ext cx="1475663" cy="1210601"/>
          </a:xfrm>
          <a:custGeom>
            <a:avLst/>
            <a:gdLst/>
            <a:ahLst/>
            <a:cxnLst/>
            <a:rect l="l" t="t" r="r" b="b"/>
            <a:pathLst>
              <a:path w="1493226" h="1493226">
                <a:moveTo>
                  <a:pt x="0" y="0"/>
                </a:moveTo>
                <a:lnTo>
                  <a:pt x="1493226" y="0"/>
                </a:lnTo>
                <a:lnTo>
                  <a:pt x="1493226" y="1493225"/>
                </a:lnTo>
                <a:lnTo>
                  <a:pt x="0" y="1493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10163" y="2059173"/>
            <a:ext cx="12593537" cy="4003626"/>
            <a:chOff x="0" y="0"/>
            <a:chExt cx="3316816" cy="10544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16817" cy="1054453"/>
            </a:xfrm>
            <a:custGeom>
              <a:avLst/>
              <a:gdLst/>
              <a:ahLst/>
              <a:cxnLst/>
              <a:rect l="l" t="t" r="r" b="b"/>
              <a:pathLst>
                <a:path w="3316817" h="1054453">
                  <a:moveTo>
                    <a:pt x="11680" y="0"/>
                  </a:moveTo>
                  <a:lnTo>
                    <a:pt x="3305136" y="0"/>
                  </a:lnTo>
                  <a:cubicBezTo>
                    <a:pt x="3311587" y="0"/>
                    <a:pt x="3316817" y="5229"/>
                    <a:pt x="3316817" y="11680"/>
                  </a:cubicBezTo>
                  <a:lnTo>
                    <a:pt x="3316817" y="1042773"/>
                  </a:lnTo>
                  <a:cubicBezTo>
                    <a:pt x="3316817" y="1049223"/>
                    <a:pt x="3311587" y="1054453"/>
                    <a:pt x="3305136" y="1054453"/>
                  </a:cubicBezTo>
                  <a:lnTo>
                    <a:pt x="11680" y="1054453"/>
                  </a:lnTo>
                  <a:cubicBezTo>
                    <a:pt x="5229" y="1054453"/>
                    <a:pt x="0" y="1049223"/>
                    <a:pt x="0" y="1042773"/>
                  </a:cubicBezTo>
                  <a:lnTo>
                    <a:pt x="0" y="11680"/>
                  </a:lnTo>
                  <a:cubicBezTo>
                    <a:pt x="0" y="5229"/>
                    <a:pt x="5229" y="0"/>
                    <a:pt x="11680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38150"/>
              <a:ext cx="3316816" cy="1492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49"/>
                </a:lnSpc>
              </a:pPr>
              <a:r>
                <a:rPr lang="en-US" sz="32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Identifies future demand trends</a:t>
              </a:r>
            </a:p>
            <a:p>
              <a:pPr algn="ctr">
                <a:lnSpc>
                  <a:spcPts val="8249"/>
                </a:lnSpc>
              </a:pPr>
              <a:endParaRPr lang="en-US" sz="32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ctr">
                <a:lnSpc>
                  <a:spcPts val="8249"/>
                </a:lnSpc>
              </a:pPr>
              <a:r>
                <a:rPr lang="en-US" sz="32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Region- and season-specific order forecasts</a:t>
              </a:r>
            </a:p>
            <a:p>
              <a:pPr algn="ctr">
                <a:lnSpc>
                  <a:spcPts val="8249"/>
                </a:lnSpc>
              </a:pPr>
              <a:r>
                <a:rPr lang="en-US" sz="32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Confidence bands help manage risk</a:t>
              </a:r>
            </a:p>
            <a:p>
              <a:pPr algn="ctr">
                <a:lnSpc>
                  <a:spcPts val="8249"/>
                </a:lnSpc>
              </a:pPr>
              <a:endParaRPr lang="en-US" sz="32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621307" y="7223861"/>
            <a:ext cx="2034439" cy="2034439"/>
          </a:xfrm>
          <a:custGeom>
            <a:avLst/>
            <a:gdLst/>
            <a:ahLst/>
            <a:cxnLst/>
            <a:rect l="l" t="t" r="r" b="b"/>
            <a:pathLst>
              <a:path w="2034439" h="2034439">
                <a:moveTo>
                  <a:pt x="0" y="0"/>
                </a:moveTo>
                <a:lnTo>
                  <a:pt x="2034439" y="0"/>
                </a:lnTo>
                <a:lnTo>
                  <a:pt x="2034439" y="2034439"/>
                </a:lnTo>
                <a:lnTo>
                  <a:pt x="0" y="2034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210163" y="6643823"/>
            <a:ext cx="12593537" cy="3063139"/>
            <a:chOff x="0" y="0"/>
            <a:chExt cx="3316816" cy="8067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16817" cy="806753"/>
            </a:xfrm>
            <a:custGeom>
              <a:avLst/>
              <a:gdLst/>
              <a:ahLst/>
              <a:cxnLst/>
              <a:rect l="l" t="t" r="r" b="b"/>
              <a:pathLst>
                <a:path w="3316817" h="806753">
                  <a:moveTo>
                    <a:pt x="11680" y="0"/>
                  </a:moveTo>
                  <a:lnTo>
                    <a:pt x="3305136" y="0"/>
                  </a:lnTo>
                  <a:cubicBezTo>
                    <a:pt x="3311587" y="0"/>
                    <a:pt x="3316817" y="5229"/>
                    <a:pt x="3316817" y="11680"/>
                  </a:cubicBezTo>
                  <a:lnTo>
                    <a:pt x="3316817" y="795072"/>
                  </a:lnTo>
                  <a:cubicBezTo>
                    <a:pt x="3316817" y="801523"/>
                    <a:pt x="3311587" y="806753"/>
                    <a:pt x="3305136" y="806753"/>
                  </a:cubicBezTo>
                  <a:lnTo>
                    <a:pt x="11680" y="806753"/>
                  </a:lnTo>
                  <a:cubicBezTo>
                    <a:pt x="5229" y="806753"/>
                    <a:pt x="0" y="801523"/>
                    <a:pt x="0" y="795072"/>
                  </a:cubicBezTo>
                  <a:lnTo>
                    <a:pt x="0" y="11680"/>
                  </a:lnTo>
                  <a:cubicBezTo>
                    <a:pt x="0" y="5229"/>
                    <a:pt x="5229" y="0"/>
                    <a:pt x="11680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90525"/>
              <a:ext cx="3316816" cy="1197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499"/>
                </a:lnSpc>
              </a:pPr>
              <a:endParaRPr lang="en-US" sz="2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ctr">
                <a:lnSpc>
                  <a:spcPts val="7499"/>
                </a:lnSpc>
              </a:pPr>
              <a:r>
                <a:rPr lang="en-US" sz="29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Cuts down retailer distortion</a:t>
              </a:r>
            </a:p>
            <a:p>
              <a:pPr algn="ctr">
                <a:lnSpc>
                  <a:spcPts val="7499"/>
                </a:lnSpc>
              </a:pPr>
              <a:r>
                <a:rPr lang="en-US" sz="29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Enables tailored warehouse &amp; vendor plans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368287" y="3040251"/>
            <a:ext cx="2041469" cy="2041469"/>
          </a:xfrm>
          <a:custGeom>
            <a:avLst/>
            <a:gdLst/>
            <a:ahLst/>
            <a:cxnLst/>
            <a:rect l="l" t="t" r="r" b="b"/>
            <a:pathLst>
              <a:path w="2041469" h="2041469">
                <a:moveTo>
                  <a:pt x="0" y="0"/>
                </a:moveTo>
                <a:lnTo>
                  <a:pt x="2041469" y="0"/>
                </a:lnTo>
                <a:lnTo>
                  <a:pt x="2041469" y="2041469"/>
                </a:lnTo>
                <a:lnTo>
                  <a:pt x="0" y="2041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381823" y="544512"/>
            <a:ext cx="9733640" cy="947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dirty="0">
                <a:solidFill>
                  <a:srgbClr val="8D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Retail Order Forecasting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D71E97-5343-A7D4-3014-BDC86807D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184479"/>
            <a:ext cx="11852995" cy="591804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grpSp>
        <p:nvGrpSpPr>
          <p:cNvPr id="6" name="Group 2">
            <a:extLst>
              <a:ext uri="{FF2B5EF4-FFF2-40B4-BE49-F238E27FC236}">
                <a16:creationId xmlns:a16="http://schemas.microsoft.com/office/drawing/2014/main" id="{4CDBE6C7-07C6-786B-A31E-0749CEBCDBFA}"/>
              </a:ext>
            </a:extLst>
          </p:cNvPr>
          <p:cNvGrpSpPr/>
          <p:nvPr/>
        </p:nvGrpSpPr>
        <p:grpSpPr>
          <a:xfrm>
            <a:off x="12671883" y="1907475"/>
            <a:ext cx="5311317" cy="7122226"/>
            <a:chOff x="60855" y="-98871"/>
            <a:chExt cx="1479142" cy="1914646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224F3D5-C1DE-A064-5EEE-000A46BB5C95}"/>
                </a:ext>
              </a:extLst>
            </p:cNvPr>
            <p:cNvSpPr/>
            <p:nvPr/>
          </p:nvSpPr>
          <p:spPr>
            <a:xfrm>
              <a:off x="60855" y="-98871"/>
              <a:ext cx="1479142" cy="1704572"/>
            </a:xfrm>
            <a:custGeom>
              <a:avLst/>
              <a:gdLst/>
              <a:ahLst/>
              <a:cxnLst/>
              <a:rect l="l" t="t" r="r" b="b"/>
              <a:pathLst>
                <a:path w="1479142" h="1704572">
                  <a:moveTo>
                    <a:pt x="26192" y="0"/>
                  </a:moveTo>
                  <a:lnTo>
                    <a:pt x="1452950" y="0"/>
                  </a:lnTo>
                  <a:cubicBezTo>
                    <a:pt x="1459897" y="0"/>
                    <a:pt x="1466559" y="2759"/>
                    <a:pt x="1471471" y="7671"/>
                  </a:cubicBezTo>
                  <a:cubicBezTo>
                    <a:pt x="1476383" y="12583"/>
                    <a:pt x="1479142" y="19245"/>
                    <a:pt x="1479142" y="26192"/>
                  </a:cubicBezTo>
                  <a:lnTo>
                    <a:pt x="1479142" y="1678380"/>
                  </a:lnTo>
                  <a:cubicBezTo>
                    <a:pt x="1479142" y="1685327"/>
                    <a:pt x="1476383" y="1691989"/>
                    <a:pt x="1471471" y="1696901"/>
                  </a:cubicBezTo>
                  <a:cubicBezTo>
                    <a:pt x="1466559" y="1701813"/>
                    <a:pt x="1459897" y="1704572"/>
                    <a:pt x="1452950" y="1704572"/>
                  </a:cubicBezTo>
                  <a:lnTo>
                    <a:pt x="26192" y="1704572"/>
                  </a:lnTo>
                  <a:cubicBezTo>
                    <a:pt x="19245" y="1704572"/>
                    <a:pt x="12583" y="1701813"/>
                    <a:pt x="7671" y="1696901"/>
                  </a:cubicBezTo>
                  <a:cubicBezTo>
                    <a:pt x="2759" y="1691989"/>
                    <a:pt x="0" y="1685327"/>
                    <a:pt x="0" y="1678380"/>
                  </a:cubicBezTo>
                  <a:lnTo>
                    <a:pt x="0" y="26192"/>
                  </a:lnTo>
                  <a:cubicBezTo>
                    <a:pt x="0" y="19245"/>
                    <a:pt x="2759" y="12583"/>
                    <a:pt x="7671" y="7671"/>
                  </a:cubicBezTo>
                  <a:cubicBezTo>
                    <a:pt x="12583" y="2759"/>
                    <a:pt x="19245" y="0"/>
                    <a:pt x="26192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AD1C99C8-EE58-E761-AA6A-8565E85BACF4}"/>
                </a:ext>
              </a:extLst>
            </p:cNvPr>
            <p:cNvSpPr txBox="1"/>
            <p:nvPr/>
          </p:nvSpPr>
          <p:spPr>
            <a:xfrm>
              <a:off x="126149" y="111203"/>
              <a:ext cx="1142914" cy="170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71500" lvl="0" indent="-571500">
                <a:buFont typeface="Arial" panose="020B0604020202020204" pitchFamily="34" charset="0"/>
                <a:buChar char="•"/>
              </a:pPr>
              <a:r>
                <a:rPr lang="en-US" sz="3600" b="1" dirty="0">
                  <a:solidFill>
                    <a:schemeClr val="bg1"/>
                  </a:solidFill>
                </a:rPr>
                <a:t>Black Line: Actual retailer order quantities from Jan 2023 to Dec 2024.</a:t>
              </a:r>
            </a:p>
            <a:p>
              <a:pPr marL="571500" lvl="0" indent="-571500">
                <a:buFont typeface="Arial" panose="020B0604020202020204" pitchFamily="34" charset="0"/>
                <a:buChar char="•"/>
              </a:pPr>
              <a:r>
                <a:rPr lang="en-US" sz="3600" b="1" dirty="0">
                  <a:solidFill>
                    <a:schemeClr val="bg1"/>
                  </a:solidFill>
                </a:rPr>
                <a:t>Orange Line: Forecasted order quantities </a:t>
              </a:r>
            </a:p>
            <a:p>
              <a:pPr marL="571500" lvl="0" indent="-571500">
                <a:buFont typeface="Arial" panose="020B0604020202020204" pitchFamily="34" charset="0"/>
                <a:buChar char="•"/>
              </a:pPr>
              <a:r>
                <a:rPr lang="en-US" sz="3600" b="1" dirty="0">
                  <a:solidFill>
                    <a:schemeClr val="bg1"/>
                  </a:solidFill>
                </a:rPr>
                <a:t>Shaded Orange Area: Confidence interval</a:t>
              </a:r>
              <a:endParaRPr lang="en-US" sz="2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marL="457200" indent="-457200">
                <a:lnSpc>
                  <a:spcPts val="7499"/>
                </a:lnSpc>
                <a:buFont typeface="Arial" panose="020B0604020202020204" pitchFamily="34" charset="0"/>
                <a:buChar char="•"/>
              </a:pPr>
              <a:endParaRPr lang="en-US" sz="2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marL="457200" indent="-457200" algn="ctr">
                <a:lnSpc>
                  <a:spcPts val="7499"/>
                </a:lnSpc>
                <a:buFont typeface="Arial" panose="020B0604020202020204" pitchFamily="34" charset="0"/>
                <a:buChar char="•"/>
              </a:pPr>
              <a:endParaRPr lang="en-US" sz="2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E9C6D531-354D-2627-3906-899D02EFC41D}"/>
              </a:ext>
            </a:extLst>
          </p:cNvPr>
          <p:cNvSpPr txBox="1"/>
          <p:nvPr/>
        </p:nvSpPr>
        <p:spPr>
          <a:xfrm>
            <a:off x="3172701" y="783611"/>
            <a:ext cx="9733640" cy="947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dirty="0">
                <a:solidFill>
                  <a:srgbClr val="8D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Retail Order Forecasting</a:t>
            </a:r>
          </a:p>
        </p:txBody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4D1652CC-59AB-7E85-5331-BE3C50D2BF7D}"/>
              </a:ext>
            </a:extLst>
          </p:cNvPr>
          <p:cNvSpPr/>
          <p:nvPr/>
        </p:nvSpPr>
        <p:spPr>
          <a:xfrm>
            <a:off x="2819400" y="509499"/>
            <a:ext cx="1475663" cy="1210601"/>
          </a:xfrm>
          <a:custGeom>
            <a:avLst/>
            <a:gdLst/>
            <a:ahLst/>
            <a:cxnLst/>
            <a:rect l="l" t="t" r="r" b="b"/>
            <a:pathLst>
              <a:path w="1493226" h="1493226">
                <a:moveTo>
                  <a:pt x="0" y="0"/>
                </a:moveTo>
                <a:lnTo>
                  <a:pt x="1493226" y="0"/>
                </a:lnTo>
                <a:lnTo>
                  <a:pt x="1493226" y="1493225"/>
                </a:lnTo>
                <a:lnTo>
                  <a:pt x="0" y="1493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6126686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07701" y="1409701"/>
            <a:ext cx="5734928" cy="7696199"/>
            <a:chOff x="0" y="-241899"/>
            <a:chExt cx="1533029" cy="24431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33029" cy="2201283"/>
            </a:xfrm>
            <a:custGeom>
              <a:avLst/>
              <a:gdLst/>
              <a:ahLst/>
              <a:cxnLst/>
              <a:rect l="l" t="t" r="r" b="b"/>
              <a:pathLst>
                <a:path w="1533029" h="2201283">
                  <a:moveTo>
                    <a:pt x="25271" y="0"/>
                  </a:moveTo>
                  <a:lnTo>
                    <a:pt x="1507758" y="0"/>
                  </a:lnTo>
                  <a:cubicBezTo>
                    <a:pt x="1514460" y="0"/>
                    <a:pt x="1520888" y="2662"/>
                    <a:pt x="1525627" y="7402"/>
                  </a:cubicBezTo>
                  <a:cubicBezTo>
                    <a:pt x="1530367" y="12141"/>
                    <a:pt x="1533029" y="18569"/>
                    <a:pt x="1533029" y="25271"/>
                  </a:cubicBezTo>
                  <a:lnTo>
                    <a:pt x="1533029" y="2176012"/>
                  </a:lnTo>
                  <a:cubicBezTo>
                    <a:pt x="1533029" y="2182715"/>
                    <a:pt x="1530367" y="2189143"/>
                    <a:pt x="1525627" y="2193882"/>
                  </a:cubicBezTo>
                  <a:cubicBezTo>
                    <a:pt x="1520888" y="2198621"/>
                    <a:pt x="1514460" y="2201283"/>
                    <a:pt x="1507758" y="2201283"/>
                  </a:cubicBezTo>
                  <a:lnTo>
                    <a:pt x="25271" y="2201283"/>
                  </a:lnTo>
                  <a:cubicBezTo>
                    <a:pt x="11314" y="2201283"/>
                    <a:pt x="0" y="2189969"/>
                    <a:pt x="0" y="2176012"/>
                  </a:cubicBezTo>
                  <a:lnTo>
                    <a:pt x="0" y="25271"/>
                  </a:lnTo>
                  <a:cubicBezTo>
                    <a:pt x="0" y="18569"/>
                    <a:pt x="2662" y="12141"/>
                    <a:pt x="7402" y="7402"/>
                  </a:cubicBezTo>
                  <a:cubicBezTo>
                    <a:pt x="12141" y="2662"/>
                    <a:pt x="18569" y="0"/>
                    <a:pt x="25271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63273" y="-241899"/>
              <a:ext cx="1385116" cy="2370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57200" indent="-457200">
                <a:lnSpc>
                  <a:spcPts val="7499"/>
                </a:lnSpc>
                <a:buFont typeface="Arial" panose="020B0604020202020204" pitchFamily="34" charset="0"/>
                <a:buChar char="•"/>
              </a:pPr>
              <a:endParaRPr lang="en-US" sz="2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marL="457200" indent="-457200">
                <a:lnSpc>
                  <a:spcPts val="7499"/>
                </a:lnSpc>
                <a:buFont typeface="Arial" panose="020B0604020202020204" pitchFamily="34" charset="0"/>
                <a:buChar char="•"/>
              </a:pPr>
              <a:r>
                <a:rPr lang="en-US" sz="29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stabilized  inventory levels.</a:t>
              </a:r>
            </a:p>
            <a:p>
              <a:pPr marL="457200" indent="-457200">
                <a:lnSpc>
                  <a:spcPts val="7499"/>
                </a:lnSpc>
                <a:buFont typeface="Arial" panose="020B0604020202020204" pitchFamily="34" charset="0"/>
                <a:buChar char="•"/>
              </a:pPr>
              <a:r>
                <a:rPr lang="en-US" sz="29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increase gradually in the future, especially after Jan2024</a:t>
              </a:r>
            </a:p>
            <a:p>
              <a:pPr marL="457200" indent="-457200">
                <a:lnSpc>
                  <a:spcPts val="7499"/>
                </a:lnSpc>
                <a:buFont typeface="Arial" panose="020B0604020202020204" pitchFamily="34" charset="0"/>
                <a:buChar char="•"/>
              </a:pPr>
              <a:r>
                <a:rPr lang="en-US" sz="29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inventory level closer to 350 units.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445371" y="2869332"/>
            <a:ext cx="11301259" cy="5806022"/>
          </a:xfrm>
          <a:custGeom>
            <a:avLst/>
            <a:gdLst/>
            <a:ahLst/>
            <a:cxnLst/>
            <a:rect l="l" t="t" r="r" b="b"/>
            <a:pathLst>
              <a:path w="11301259" h="5806022">
                <a:moveTo>
                  <a:pt x="0" y="0"/>
                </a:moveTo>
                <a:lnTo>
                  <a:pt x="11301259" y="0"/>
                </a:lnTo>
                <a:lnTo>
                  <a:pt x="11301259" y="5806022"/>
                </a:lnTo>
                <a:lnTo>
                  <a:pt x="0" y="5806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8988BB-F3D1-C7C2-8878-BD5C7948CCB9}"/>
              </a:ext>
            </a:extLst>
          </p:cNvPr>
          <p:cNvSpPr txBox="1"/>
          <p:nvPr/>
        </p:nvSpPr>
        <p:spPr>
          <a:xfrm>
            <a:off x="2728714" y="941518"/>
            <a:ext cx="8686800" cy="93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99" dirty="0">
                <a:solidFill>
                  <a:srgbClr val="8D0000"/>
                </a:solidFill>
                <a:latin typeface="DM Serif Display"/>
              </a:rPr>
              <a:t>Forecast Retail Inventory</a:t>
            </a:r>
          </a:p>
        </p:txBody>
      </p:sp>
      <p:pic>
        <p:nvPicPr>
          <p:cNvPr id="1026" name="Picture 2" descr="Inventory - Free industry icons">
            <a:extLst>
              <a:ext uri="{FF2B5EF4-FFF2-40B4-BE49-F238E27FC236}">
                <a16:creationId xmlns:a16="http://schemas.microsoft.com/office/drawing/2014/main" id="{DECB0C9E-86F5-3F7C-5BC1-4F7597664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53" y="846156"/>
            <a:ext cx="1180661" cy="103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20600" y="952500"/>
            <a:ext cx="5616118" cy="7954823"/>
            <a:chOff x="0" y="-390525"/>
            <a:chExt cx="1479142" cy="20950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9142" cy="1704572"/>
            </a:xfrm>
            <a:custGeom>
              <a:avLst/>
              <a:gdLst/>
              <a:ahLst/>
              <a:cxnLst/>
              <a:rect l="l" t="t" r="r" b="b"/>
              <a:pathLst>
                <a:path w="1479142" h="1704572">
                  <a:moveTo>
                    <a:pt x="26192" y="0"/>
                  </a:moveTo>
                  <a:lnTo>
                    <a:pt x="1452950" y="0"/>
                  </a:lnTo>
                  <a:cubicBezTo>
                    <a:pt x="1459897" y="0"/>
                    <a:pt x="1466559" y="2759"/>
                    <a:pt x="1471471" y="7671"/>
                  </a:cubicBezTo>
                  <a:cubicBezTo>
                    <a:pt x="1476383" y="12583"/>
                    <a:pt x="1479142" y="19245"/>
                    <a:pt x="1479142" y="26192"/>
                  </a:cubicBezTo>
                  <a:lnTo>
                    <a:pt x="1479142" y="1678380"/>
                  </a:lnTo>
                  <a:cubicBezTo>
                    <a:pt x="1479142" y="1685327"/>
                    <a:pt x="1476383" y="1691989"/>
                    <a:pt x="1471471" y="1696901"/>
                  </a:cubicBezTo>
                  <a:cubicBezTo>
                    <a:pt x="1466559" y="1701813"/>
                    <a:pt x="1459897" y="1704572"/>
                    <a:pt x="1452950" y="1704572"/>
                  </a:cubicBezTo>
                  <a:lnTo>
                    <a:pt x="26192" y="1704572"/>
                  </a:lnTo>
                  <a:cubicBezTo>
                    <a:pt x="19245" y="1704572"/>
                    <a:pt x="12583" y="1701813"/>
                    <a:pt x="7671" y="1696901"/>
                  </a:cubicBezTo>
                  <a:cubicBezTo>
                    <a:pt x="2759" y="1691989"/>
                    <a:pt x="0" y="1685327"/>
                    <a:pt x="0" y="1678380"/>
                  </a:cubicBezTo>
                  <a:lnTo>
                    <a:pt x="0" y="26192"/>
                  </a:lnTo>
                  <a:cubicBezTo>
                    <a:pt x="0" y="19245"/>
                    <a:pt x="2759" y="12583"/>
                    <a:pt x="7671" y="7671"/>
                  </a:cubicBezTo>
                  <a:cubicBezTo>
                    <a:pt x="12583" y="2759"/>
                    <a:pt x="19245" y="0"/>
                    <a:pt x="26192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0346" y="-390525"/>
              <a:ext cx="1378796" cy="2095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499"/>
                </a:lnSpc>
              </a:pPr>
              <a:r>
                <a:rPr lang="en-US" sz="29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In</a:t>
              </a:r>
            </a:p>
            <a:p>
              <a:pPr algn="ctr">
                <a:lnSpc>
                  <a:spcPts val="7499"/>
                </a:lnSpc>
              </a:pPr>
              <a:endParaRPr lang="en-US" sz="2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marL="457200" indent="-457200">
                <a:lnSpc>
                  <a:spcPts val="7499"/>
                </a:lnSpc>
                <a:buFont typeface="Arial" panose="020B0604020202020204" pitchFamily="34" charset="0"/>
                <a:buChar char="•"/>
              </a:pPr>
              <a:r>
                <a:rPr lang="en-US" sz="29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consistency in actual sales performance.</a:t>
              </a:r>
            </a:p>
            <a:p>
              <a:pPr marL="457200" indent="-457200">
                <a:lnSpc>
                  <a:spcPts val="7499"/>
                </a:lnSpc>
                <a:buFont typeface="Arial" panose="020B0604020202020204" pitchFamily="34" charset="0"/>
                <a:buChar char="•"/>
              </a:pPr>
              <a:r>
                <a:rPr lang="en-US" sz="29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smoother and gradually increasing trend</a:t>
              </a:r>
            </a:p>
            <a:p>
              <a:pPr marL="457200" indent="-457200">
                <a:lnSpc>
                  <a:spcPts val="7499"/>
                </a:lnSpc>
                <a:buFont typeface="Arial" panose="020B0604020202020204" pitchFamily="34" charset="0"/>
                <a:buChar char="•"/>
              </a:pPr>
              <a:r>
                <a:rPr lang="en-US" sz="299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shaded region  </a:t>
              </a:r>
            </a:p>
            <a:p>
              <a:pPr algn="ctr">
                <a:lnSpc>
                  <a:spcPts val="7499"/>
                </a:lnSpc>
              </a:pPr>
              <a:endParaRPr lang="en-US" sz="2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609600" y="2933700"/>
            <a:ext cx="11301259" cy="5763642"/>
          </a:xfrm>
          <a:custGeom>
            <a:avLst/>
            <a:gdLst/>
            <a:ahLst/>
            <a:cxnLst/>
            <a:rect l="l" t="t" r="r" b="b"/>
            <a:pathLst>
              <a:path w="11301259" h="5763642">
                <a:moveTo>
                  <a:pt x="0" y="0"/>
                </a:moveTo>
                <a:lnTo>
                  <a:pt x="11301259" y="0"/>
                </a:lnTo>
                <a:lnTo>
                  <a:pt x="11301259" y="5763642"/>
                </a:lnTo>
                <a:lnTo>
                  <a:pt x="0" y="5763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pic>
        <p:nvPicPr>
          <p:cNvPr id="2050" name="Picture 2" descr="Sales Icons - Free SVG &amp; PNG Sales Images - Noun Project">
            <a:extLst>
              <a:ext uri="{FF2B5EF4-FFF2-40B4-BE49-F238E27FC236}">
                <a16:creationId xmlns:a16="http://schemas.microsoft.com/office/drawing/2014/main" id="{66ED9672-4566-3841-70D6-6B4999615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580332"/>
            <a:ext cx="19050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44F41B-750B-2490-A328-80553B017B59}"/>
              </a:ext>
            </a:extLst>
          </p:cNvPr>
          <p:cNvSpPr txBox="1"/>
          <p:nvPr/>
        </p:nvSpPr>
        <p:spPr>
          <a:xfrm>
            <a:off x="3657600" y="796837"/>
            <a:ext cx="7924800" cy="93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99" dirty="0">
                <a:solidFill>
                  <a:srgbClr val="8D0000"/>
                </a:solidFill>
                <a:latin typeface="DM Serif Display"/>
              </a:rPr>
              <a:t>Forecast Sales Quantity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11645" y="859927"/>
            <a:ext cx="9894109" cy="8775341"/>
            <a:chOff x="0" y="0"/>
            <a:chExt cx="2605856" cy="23112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05856" cy="2311201"/>
            </a:xfrm>
            <a:custGeom>
              <a:avLst/>
              <a:gdLst/>
              <a:ahLst/>
              <a:cxnLst/>
              <a:rect l="l" t="t" r="r" b="b"/>
              <a:pathLst>
                <a:path w="2605856" h="2311201">
                  <a:moveTo>
                    <a:pt x="0" y="0"/>
                  </a:moveTo>
                  <a:lnTo>
                    <a:pt x="2605856" y="0"/>
                  </a:lnTo>
                  <a:lnTo>
                    <a:pt x="2605856" y="2311201"/>
                  </a:lnTo>
                  <a:lnTo>
                    <a:pt x="0" y="231120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05856" cy="2358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5718" y="4291864"/>
            <a:ext cx="6366052" cy="1613635"/>
            <a:chOff x="0" y="0"/>
            <a:chExt cx="1887668" cy="3839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87668" cy="383927"/>
            </a:xfrm>
            <a:custGeom>
              <a:avLst/>
              <a:gdLst/>
              <a:ahLst/>
              <a:cxnLst/>
              <a:rect l="l" t="t" r="r" b="b"/>
              <a:pathLst>
                <a:path w="1887668" h="383927">
                  <a:moveTo>
                    <a:pt x="55089" y="0"/>
                  </a:moveTo>
                  <a:lnTo>
                    <a:pt x="1832579" y="0"/>
                  </a:lnTo>
                  <a:cubicBezTo>
                    <a:pt x="1863004" y="0"/>
                    <a:pt x="1887668" y="24664"/>
                    <a:pt x="1887668" y="55089"/>
                  </a:cubicBezTo>
                  <a:lnTo>
                    <a:pt x="1887668" y="328838"/>
                  </a:lnTo>
                  <a:cubicBezTo>
                    <a:pt x="1887668" y="343449"/>
                    <a:pt x="1881864" y="357461"/>
                    <a:pt x="1871533" y="367792"/>
                  </a:cubicBezTo>
                  <a:cubicBezTo>
                    <a:pt x="1861202" y="378123"/>
                    <a:pt x="1847190" y="383927"/>
                    <a:pt x="1832579" y="383927"/>
                  </a:cubicBezTo>
                  <a:lnTo>
                    <a:pt x="55089" y="383927"/>
                  </a:lnTo>
                  <a:cubicBezTo>
                    <a:pt x="24664" y="383927"/>
                    <a:pt x="0" y="359263"/>
                    <a:pt x="0" y="328838"/>
                  </a:cubicBezTo>
                  <a:lnTo>
                    <a:pt x="0" y="55089"/>
                  </a:lnTo>
                  <a:cubicBezTo>
                    <a:pt x="0" y="24664"/>
                    <a:pt x="24664" y="0"/>
                    <a:pt x="5508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33375"/>
              <a:ext cx="1887668" cy="717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48541" y="4784043"/>
            <a:ext cx="5493069" cy="92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id="9" name="AutoShape 9"/>
          <p:cNvSpPr/>
          <p:nvPr/>
        </p:nvSpPr>
        <p:spPr>
          <a:xfrm>
            <a:off x="6693735" y="5162543"/>
            <a:ext cx="785257" cy="21292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0" name="Group 10"/>
          <p:cNvGrpSpPr/>
          <p:nvPr/>
        </p:nvGrpSpPr>
        <p:grpSpPr>
          <a:xfrm>
            <a:off x="8041870" y="1495530"/>
            <a:ext cx="862324" cy="8623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7F7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-257175"/>
              <a:ext cx="660400" cy="99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290614" y="1494913"/>
            <a:ext cx="364836" cy="77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7"/>
              </a:lnSpc>
            </a:pPr>
            <a:r>
              <a:rPr lang="en-US" sz="456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041870" y="3418655"/>
            <a:ext cx="862324" cy="86232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7F7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-257175"/>
              <a:ext cx="660400" cy="99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290614" y="3418038"/>
            <a:ext cx="364836" cy="77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7"/>
              </a:lnSpc>
            </a:pPr>
            <a:r>
              <a:rPr lang="en-US" sz="456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041870" y="5346118"/>
            <a:ext cx="862324" cy="862324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7F7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-257175"/>
              <a:ext cx="660400" cy="99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8290614" y="5345502"/>
            <a:ext cx="364836" cy="77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7"/>
              </a:lnSpc>
            </a:pPr>
            <a:r>
              <a:rPr lang="en-US" sz="456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041870" y="7273582"/>
            <a:ext cx="862324" cy="862324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7F7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-257175"/>
              <a:ext cx="660400" cy="99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290614" y="7272965"/>
            <a:ext cx="364836" cy="77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7"/>
              </a:lnSpc>
            </a:pPr>
            <a:r>
              <a:rPr lang="en-US" sz="456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grpSp>
        <p:nvGrpSpPr>
          <p:cNvPr id="26" name="Group 26"/>
          <p:cNvGrpSpPr/>
          <p:nvPr/>
        </p:nvGrpSpPr>
        <p:grpSpPr>
          <a:xfrm rot="-3503507">
            <a:off x="-1839914" y="8154245"/>
            <a:ext cx="6972581" cy="4300566"/>
            <a:chOff x="0" y="0"/>
            <a:chExt cx="1836400" cy="11326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836400" cy="1132659"/>
            </a:xfrm>
            <a:custGeom>
              <a:avLst/>
              <a:gdLst/>
              <a:ahLst/>
              <a:cxnLst/>
              <a:rect l="l" t="t" r="r" b="b"/>
              <a:pathLst>
                <a:path w="1836400" h="1132659">
                  <a:moveTo>
                    <a:pt x="56627" y="0"/>
                  </a:moveTo>
                  <a:lnTo>
                    <a:pt x="1779773" y="0"/>
                  </a:lnTo>
                  <a:cubicBezTo>
                    <a:pt x="1794791" y="0"/>
                    <a:pt x="1809195" y="5966"/>
                    <a:pt x="1819814" y="16586"/>
                  </a:cubicBezTo>
                  <a:cubicBezTo>
                    <a:pt x="1830434" y="27205"/>
                    <a:pt x="1836400" y="41609"/>
                    <a:pt x="1836400" y="56627"/>
                  </a:cubicBezTo>
                  <a:lnTo>
                    <a:pt x="1836400" y="1076032"/>
                  </a:lnTo>
                  <a:cubicBezTo>
                    <a:pt x="1836400" y="1107306"/>
                    <a:pt x="1811047" y="1132659"/>
                    <a:pt x="1779773" y="1132659"/>
                  </a:cubicBezTo>
                  <a:lnTo>
                    <a:pt x="56627" y="1132659"/>
                  </a:lnTo>
                  <a:cubicBezTo>
                    <a:pt x="25353" y="1132659"/>
                    <a:pt x="0" y="1107306"/>
                    <a:pt x="0" y="1076032"/>
                  </a:cubicBezTo>
                  <a:lnTo>
                    <a:pt x="0" y="56627"/>
                  </a:lnTo>
                  <a:cubicBezTo>
                    <a:pt x="0" y="25353"/>
                    <a:pt x="25353" y="0"/>
                    <a:pt x="56627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33375"/>
              <a:ext cx="1836400" cy="1466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141370" y="1409804"/>
            <a:ext cx="7546429" cy="738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Operational Gaps Identified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41371" y="3457363"/>
            <a:ext cx="7546428" cy="738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Better Decision-Making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34401" y="5365164"/>
            <a:ext cx="7353398" cy="738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Resilient Supply Chain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34401" y="7187856"/>
            <a:ext cx="7048599" cy="738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Cost &amp; Risk Reduction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17" b="-3517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65204" y="4398442"/>
            <a:ext cx="8373354" cy="1343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99"/>
              </a:lnSpc>
            </a:pPr>
            <a:r>
              <a:rPr lang="en-US" sz="9399" b="1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 rot="-3503507">
            <a:off x="-2356457" y="6564794"/>
            <a:ext cx="5968439" cy="2484763"/>
            <a:chOff x="0" y="0"/>
            <a:chExt cx="1571935" cy="6544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71935" cy="654423"/>
            </a:xfrm>
            <a:custGeom>
              <a:avLst/>
              <a:gdLst/>
              <a:ahLst/>
              <a:cxnLst/>
              <a:rect l="l" t="t" r="r" b="b"/>
              <a:pathLst>
                <a:path w="1571935" h="654423">
                  <a:moveTo>
                    <a:pt x="66154" y="0"/>
                  </a:moveTo>
                  <a:lnTo>
                    <a:pt x="1505780" y="0"/>
                  </a:lnTo>
                  <a:cubicBezTo>
                    <a:pt x="1523326" y="0"/>
                    <a:pt x="1540152" y="6970"/>
                    <a:pt x="1552558" y="19376"/>
                  </a:cubicBezTo>
                  <a:cubicBezTo>
                    <a:pt x="1564965" y="31782"/>
                    <a:pt x="1571935" y="48609"/>
                    <a:pt x="1571935" y="66154"/>
                  </a:cubicBezTo>
                  <a:lnTo>
                    <a:pt x="1571935" y="588269"/>
                  </a:lnTo>
                  <a:cubicBezTo>
                    <a:pt x="1571935" y="624805"/>
                    <a:pt x="1542316" y="654423"/>
                    <a:pt x="1505780" y="654423"/>
                  </a:cubicBezTo>
                  <a:lnTo>
                    <a:pt x="66154" y="654423"/>
                  </a:lnTo>
                  <a:cubicBezTo>
                    <a:pt x="29618" y="654423"/>
                    <a:pt x="0" y="624805"/>
                    <a:pt x="0" y="588269"/>
                  </a:cubicBezTo>
                  <a:lnTo>
                    <a:pt x="0" y="66154"/>
                  </a:lnTo>
                  <a:cubicBezTo>
                    <a:pt x="0" y="29618"/>
                    <a:pt x="29618" y="0"/>
                    <a:pt x="66154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33375"/>
              <a:ext cx="1571935" cy="987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3503507">
            <a:off x="14958997" y="1874234"/>
            <a:ext cx="6145518" cy="2741564"/>
            <a:chOff x="0" y="0"/>
            <a:chExt cx="1618573" cy="7220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18573" cy="722058"/>
            </a:xfrm>
            <a:custGeom>
              <a:avLst/>
              <a:gdLst/>
              <a:ahLst/>
              <a:cxnLst/>
              <a:rect l="l" t="t" r="r" b="b"/>
              <a:pathLst>
                <a:path w="1618573" h="722058">
                  <a:moveTo>
                    <a:pt x="64248" y="0"/>
                  </a:moveTo>
                  <a:lnTo>
                    <a:pt x="1554325" y="0"/>
                  </a:lnTo>
                  <a:cubicBezTo>
                    <a:pt x="1571364" y="0"/>
                    <a:pt x="1587706" y="6769"/>
                    <a:pt x="1599755" y="18818"/>
                  </a:cubicBezTo>
                  <a:cubicBezTo>
                    <a:pt x="1611804" y="30867"/>
                    <a:pt x="1618573" y="47208"/>
                    <a:pt x="1618573" y="64248"/>
                  </a:cubicBezTo>
                  <a:lnTo>
                    <a:pt x="1618573" y="657810"/>
                  </a:lnTo>
                  <a:cubicBezTo>
                    <a:pt x="1618573" y="674850"/>
                    <a:pt x="1611804" y="691191"/>
                    <a:pt x="1599755" y="703240"/>
                  </a:cubicBezTo>
                  <a:cubicBezTo>
                    <a:pt x="1587706" y="715289"/>
                    <a:pt x="1571364" y="722058"/>
                    <a:pt x="1554325" y="722058"/>
                  </a:cubicBezTo>
                  <a:lnTo>
                    <a:pt x="64248" y="722058"/>
                  </a:lnTo>
                  <a:cubicBezTo>
                    <a:pt x="47208" y="722058"/>
                    <a:pt x="30867" y="715289"/>
                    <a:pt x="18818" y="703240"/>
                  </a:cubicBezTo>
                  <a:cubicBezTo>
                    <a:pt x="6769" y="691191"/>
                    <a:pt x="0" y="674850"/>
                    <a:pt x="0" y="657810"/>
                  </a:cubicBezTo>
                  <a:lnTo>
                    <a:pt x="0" y="64248"/>
                  </a:lnTo>
                  <a:cubicBezTo>
                    <a:pt x="0" y="47208"/>
                    <a:pt x="6769" y="30867"/>
                    <a:pt x="18818" y="18818"/>
                  </a:cubicBezTo>
                  <a:cubicBezTo>
                    <a:pt x="30867" y="6769"/>
                    <a:pt x="47208" y="0"/>
                    <a:pt x="6424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33375"/>
              <a:ext cx="1618573" cy="1055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669</Words>
  <Application>Microsoft Office PowerPoint</Application>
  <PresentationFormat>Custom</PresentationFormat>
  <Paragraphs>167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Calibri</vt:lpstr>
      <vt:lpstr>Arial</vt:lpstr>
      <vt:lpstr>Poppins Bold</vt:lpstr>
      <vt:lpstr>Canva Sans Bold</vt:lpstr>
      <vt:lpstr>DM Serif Display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</dc:title>
  <dc:creator>HP</dc:creator>
  <cp:lastModifiedBy>aqsajaved490@gmail.com</cp:lastModifiedBy>
  <cp:revision>25</cp:revision>
  <dcterms:created xsi:type="dcterms:W3CDTF">2006-08-16T00:00:00Z</dcterms:created>
  <dcterms:modified xsi:type="dcterms:W3CDTF">2025-08-06T20:40:04Z</dcterms:modified>
  <dc:identifier>DAGvLvU_sNc</dc:identifier>
</cp:coreProperties>
</file>